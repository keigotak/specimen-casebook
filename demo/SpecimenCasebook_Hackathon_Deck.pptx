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cda43735764c3b" /><Relationship Type="http://schemas.openxmlformats.org/officeDocument/2006/relationships/extended-properties" Target="/docProps/app.xml" Id="R11e3495897e547b6" /><Relationship Type="http://schemas.openxmlformats.org/officeDocument/2006/relationships/officeDocument" Target="/ppt/presentation.xml" Id="Rcc57a771242d4c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b44ab65e334138"/>
  </p:sldMasterIdLst>
  <p:notesMasterIdLst>
    <p:notesMasterId xmlns:r="http://schemas.openxmlformats.org/officeDocument/2006/relationships" r:id="R914a2ac18f3f49e2"/>
  </p:notesMasterIdLst>
  <p:sldIdLst>
    <p:sldId xmlns:r="http://schemas.openxmlformats.org/officeDocument/2006/relationships" id="256" r:id="R155f9b36a04d4588"/>
    <p:sldId xmlns:r="http://schemas.openxmlformats.org/officeDocument/2006/relationships" id="257" r:id="R50102b2b845041cb"/>
    <p:sldId xmlns:r="http://schemas.openxmlformats.org/officeDocument/2006/relationships" id="258" r:id="R84d1c237ce8e4493"/>
    <p:sldId xmlns:r="http://schemas.openxmlformats.org/officeDocument/2006/relationships" id="259" r:id="R7c8eaef140c643e2"/>
    <p:sldId xmlns:r="http://schemas.openxmlformats.org/officeDocument/2006/relationships" id="260" r:id="R25c3213d706a43ee"/>
    <p:sldId xmlns:r="http://schemas.openxmlformats.org/officeDocument/2006/relationships" id="261" r:id="R13a497c41c7e419b"/>
    <p:sldId xmlns:r="http://schemas.openxmlformats.org/officeDocument/2006/relationships" id="262" r:id="R2a13b2d50c2746f7"/>
    <p:sldId xmlns:r="http://schemas.openxmlformats.org/officeDocument/2006/relationships" id="263" r:id="R9ef95c7b040748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7c9f19b07346d5" /><Relationship Type="http://schemas.openxmlformats.org/officeDocument/2006/relationships/slideMaster" Target="/ppt/slideMasters/slideMaster1.xml" Id="Rb2b44ab65e334138" /><Relationship Type="http://schemas.openxmlformats.org/officeDocument/2006/relationships/notesMaster" Target="/ppt/notesMasters/notesMaster1.xml" Id="R914a2ac18f3f49e2" /><Relationship Type="http://schemas.openxmlformats.org/officeDocument/2006/relationships/presProps" Target="/ppt/presProps.xml" Id="R1c5e9a65fb634cc4" /><Relationship Type="http://schemas.openxmlformats.org/officeDocument/2006/relationships/tableStyles" Target="/ppt/tableStyles.xml" Id="Rd30078dce0a04818" /><Relationship Type="http://schemas.openxmlformats.org/officeDocument/2006/relationships/slide" Target="/ppt/slides/slide1.xml" Id="R155f9b36a04d4588" /><Relationship Type="http://schemas.openxmlformats.org/officeDocument/2006/relationships/slide" Target="/ppt/slides/slide2.xml" Id="R50102b2b845041cb" /><Relationship Type="http://schemas.openxmlformats.org/officeDocument/2006/relationships/slide" Target="/ppt/slides/slide3.xml" Id="R84d1c237ce8e4493" /><Relationship Type="http://schemas.openxmlformats.org/officeDocument/2006/relationships/slide" Target="/ppt/slides/slide4.xml" Id="R7c8eaef140c643e2" /><Relationship Type="http://schemas.openxmlformats.org/officeDocument/2006/relationships/slide" Target="/ppt/slides/slide5.xml" Id="R25c3213d706a43ee" /><Relationship Type="http://schemas.openxmlformats.org/officeDocument/2006/relationships/slide" Target="/ppt/slides/slide6.xml" Id="R13a497c41c7e419b" /><Relationship Type="http://schemas.openxmlformats.org/officeDocument/2006/relationships/slide" Target="/ppt/slides/slide7.xml" Id="R2a13b2d50c2746f7" /><Relationship Type="http://schemas.openxmlformats.org/officeDocument/2006/relationships/slide" Target="/ppt/slides/slide8.xml" Id="R9ef95c7b040748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99ced088064d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pecimen Casebook">
  <a:themeElements>
    <a:clrScheme name="Specimen Casebook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pecimen Caseboo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296c2c81db4281" /><Relationship Type="http://schemas.openxmlformats.org/officeDocument/2006/relationships/notesMaster" Target="/ppt/notesMasters/notesMaster1.xml" Id="R74b5c552dffe44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4c19ebfe514912" /><Relationship Type="http://schemas.openxmlformats.org/officeDocument/2006/relationships/notesMaster" Target="/ppt/notesMasters/notesMaster1.xml" Id="Raf61a647c9a442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79c4442cc64b64" /><Relationship Type="http://schemas.openxmlformats.org/officeDocument/2006/relationships/notesMaster" Target="/ppt/notesMasters/notesMaster1.xml" Id="R7865870cda9a48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614fb4426b48ad" /><Relationship Type="http://schemas.openxmlformats.org/officeDocument/2006/relationships/notesMaster" Target="/ppt/notesMasters/notesMaster1.xml" Id="Rddaae3a9b06b4a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0c26e181e74e16" /><Relationship Type="http://schemas.openxmlformats.org/officeDocument/2006/relationships/notesMaster" Target="/ppt/notesMasters/notesMaster1.xml" Id="R82e900ba55e946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75e06b8e614f10" /><Relationship Type="http://schemas.openxmlformats.org/officeDocument/2006/relationships/notesMaster" Target="/ppt/notesMasters/notesMaster1.xml" Id="R1c9f239fa99547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04dd03bd6949cb" /><Relationship Type="http://schemas.openxmlformats.org/officeDocument/2006/relationships/notesMaster" Target="/ppt/notesMasters/notesMaster1.xml" Id="Re080427923b342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5184b5b805443a" /><Relationship Type="http://schemas.openxmlformats.org/officeDocument/2006/relationships/notesMaster" Target="/ppt/notesMasters/notesMaster1.xml" Id="Ra8ed9c8f2fc548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14b2652494f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f2805fc9a14800" /><Relationship Type="http://schemas.openxmlformats.org/officeDocument/2006/relationships/slideLayout" Target="/ppt/slideLayouts/slideLayout1.xml" Id="R481c1996df8a4e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1c1996df8a4e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pecimen Casebook">
  <a:themeElements>
    <a:clrScheme name="Specimen Casebook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pecimen Caseboo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1d422f12f49b7" /><Relationship Type="http://schemas.openxmlformats.org/officeDocument/2006/relationships/notesSlide" Target="/ppt/notesSlides/notesSlide1.xml" Id="Rfce87acef17c4f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ae76f1d1e4eb2" /><Relationship Type="http://schemas.openxmlformats.org/officeDocument/2006/relationships/notesSlide" Target="/ppt/notesSlides/notesSlide2.xml" Id="R0f0262bab41841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d4bbf8de742c7" /><Relationship Type="http://schemas.openxmlformats.org/officeDocument/2006/relationships/notesSlide" Target="/ppt/notesSlides/notesSlide3.xml" Id="Rb9af4e9e08e242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d4d20da2043af" /><Relationship Type="http://schemas.openxmlformats.org/officeDocument/2006/relationships/image" Target="/ppt/media/image.jpeg" Id="R920b32cb746b4da4" /><Relationship Type="http://schemas.openxmlformats.org/officeDocument/2006/relationships/notesSlide" Target="/ppt/notesSlides/notesSlide4.xml" Id="R0e9f8b8502744a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9d97d8f674684" /><Relationship Type="http://schemas.openxmlformats.org/officeDocument/2006/relationships/notesSlide" Target="/ppt/notesSlides/notesSlide5.xml" Id="R820b3328eb1145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1f78f42f94efd" /><Relationship Type="http://schemas.openxmlformats.org/officeDocument/2006/relationships/notesSlide" Target="/ppt/notesSlides/notesSlide6.xml" Id="R8a567dd3ca6f46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99f089ecb419d" /><Relationship Type="http://schemas.openxmlformats.org/officeDocument/2006/relationships/notesSlide" Target="/ppt/notesSlides/notesSlide7.xml" Id="R7c5afc70b39d44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39ede357a4220" /><Relationship Type="http://schemas.openxmlformats.org/officeDocument/2006/relationships/notesSlide" Target="/ppt/notesSlides/notesSlide8.xml" Id="R2ca6666312b14f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af-a-52-62">
            <a:extLst xmlns:a="http://schemas.openxmlformats.org/drawingml/2006/main">
              <a:ext uri="{FF2B5EF4-FFF2-40B4-BE49-F238E27FC236}">
                <a16:creationId xmlns:a16="http://schemas.microsoft.com/office/drawing/2014/main" id="{92CA010F-3B0E-43FE-A859-0A48AE6C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2095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5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af-b-52-62">
            <a:extLst xmlns:a="http://schemas.openxmlformats.org/drawingml/2006/main">
              <a:ext uri="{FF2B5EF4-FFF2-40B4-BE49-F238E27FC236}">
                <a16:creationId xmlns:a16="http://schemas.microsoft.com/office/drawing/2014/main" id="{9432D107-FA04-46C9-B5EE-5FFC9DE2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"/>
            <a:ext cx="161925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5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1-kicker">
            <a:extLst xmlns:a="http://schemas.openxmlformats.org/drawingml/2006/main">
              <a:ext uri="{FF2B5EF4-FFF2-40B4-BE49-F238E27FC236}">
                <a16:creationId xmlns:a16="http://schemas.microsoft.com/office/drawing/2014/main" id="{4B08BEDC-EA68-4075-87E6-46AB0C53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8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FD5C8"/>
                </a:solidFill>
              </a:defRPr>
            </a:pPr>
            <a:r>
              <a:rPr sz="1125" b="1" i="0">
                <a:solidFill>
                  <a:srgbClr val="BFD5C8"/>
                </a:solidFill>
              </a:rPr>
              <a:t>BUILT WITH CLAUDE · LIFE SCIENCES</a:t>
            </a:r>
          </a:p>
        </p:txBody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FD2C5326-297E-44B5-90D7-140EB5C8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7F3E8"/>
                </a:solidFill>
              </a:defRPr>
            </a:pPr>
            <a:r>
              <a:rPr sz="5250" b="1" i="0">
                <a:solidFill>
                  <a:srgbClr val="F7F3E8"/>
                </a:solidFill>
              </a:rPr>
              <a:t>Specimen</a:t>
            </a:r>
          </a:p>
          <a:p xmlns:a="http://schemas.openxmlformats.org/drawingml/2006/main">
            <a:pPr algn="l">
              <a:defRPr sz="5250" b="1" i="0">
                <a:solidFill>
                  <a:srgbClr val="F7F3E8"/>
                </a:solidFill>
              </a:defRPr>
            </a:pPr>
            <a:r>
              <a:rPr sz="5250" b="1" i="0">
                <a:solidFill>
                  <a:srgbClr val="F7F3E8"/>
                </a:solidFill>
              </a:rPr>
              <a:t>Casebook</a:t>
            </a:r>
          </a:p>
        </p:txBody>
      </p:sp>
      <p:sp>
        <p:nvSpPr>
          <p:cNvPr id="5" name="s1-rule">
            <a:extLst xmlns:a="http://schemas.openxmlformats.org/drawingml/2006/main">
              <a:ext uri="{FF2B5EF4-FFF2-40B4-BE49-F238E27FC236}">
                <a16:creationId xmlns:a16="http://schemas.microsoft.com/office/drawing/2014/main" id="{A68F94CB-B573-4A9B-942A-39476E00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5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-subtitle">
            <a:extLst xmlns:a="http://schemas.openxmlformats.org/drawingml/2006/main">
              <a:ext uri="{FF2B5EF4-FFF2-40B4-BE49-F238E27FC236}">
                <a16:creationId xmlns:a16="http://schemas.microsoft.com/office/drawing/2014/main" id="{B520AC6E-0628-4A68-9615-92428C31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7F3E8"/>
                </a:solidFill>
              </a:defRPr>
            </a:pPr>
            <a:r>
              <a:rPr sz="2175" b="0" i="0">
                <a:solidFill>
                  <a:srgbClr val="F7F3E8"/>
                </a:solidFill>
              </a:rPr>
              <a:t>Auditable data reconciliation</a:t>
            </a:r>
          </a:p>
          <a:p xmlns:a="http://schemas.openxmlformats.org/drawingml/2006/main">
            <a:pPr algn="l">
              <a:defRPr sz="2175" b="0" i="0">
                <a:solidFill>
                  <a:srgbClr val="F7F3E8"/>
                </a:solidFill>
              </a:defRPr>
            </a:pPr>
            <a:r>
              <a:rPr sz="2175" b="0" i="0">
                <a:solidFill>
                  <a:srgbClr val="F7F3E8"/>
                </a:solidFill>
              </a:rPr>
              <a:t>for biodiversity collections</a:t>
            </a:r>
          </a:p>
        </p:txBody>
      </p:sp>
      <p:sp>
        <p:nvSpPr>
          <p:cNvPr id="7" name="s1-date-card">
            <a:extLst xmlns:a="http://schemas.openxmlformats.org/drawingml/2006/main">
              <a:ext uri="{FF2B5EF4-FFF2-40B4-BE49-F238E27FC236}">
                <a16:creationId xmlns:a16="http://schemas.microsoft.com/office/drawing/2014/main" id="{9A33F627-3F14-4B86-A308-FD71A3B3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714750" cy="39052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8" name="s1-label">
            <a:extLst xmlns:a="http://schemas.openxmlformats.org/drawingml/2006/main">
              <a:ext uri="{FF2B5EF4-FFF2-40B4-BE49-F238E27FC236}">
                <a16:creationId xmlns:a16="http://schemas.microsoft.com/office/drawing/2014/main" id="{0894748F-4E84-4AF9-8DD3-A15A4252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2952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F3E8"/>
                </a:solidFill>
              </a:defRPr>
            </a:pPr>
            <a:r>
              <a:rPr sz="1875" b="1" i="0">
                <a:solidFill>
                  <a:srgbClr val="F7F3E8"/>
                </a:solidFill>
              </a:rPr>
              <a:t>ONE RECORD.</a:t>
            </a:r>
          </a:p>
          <a:p xmlns:a="http://schemas.openxmlformats.org/drawingml/2006/main">
            <a:pPr algn="l">
              <a:defRPr sz="1875" b="1" i="0">
                <a:solidFill>
                  <a:srgbClr val="F7F3E8"/>
                </a:solidFill>
              </a:defRPr>
            </a:pPr>
            <a:r>
              <a:rPr sz="1875" b="1" i="0">
                <a:solidFill>
                  <a:srgbClr val="F7F3E8"/>
                </a:solidFill>
              </a:rPr>
              <a:t>FIVE SOURCES.</a:t>
            </a:r>
          </a:p>
          <a:p xmlns:a="http://schemas.openxmlformats.org/drawingml/2006/main">
            <a:pPr algn="l">
              <a:defRPr sz="1875" b="1" i="0">
                <a:solidFill>
                  <a:srgbClr val="F7F3E8"/>
                </a:solidFill>
              </a:defRPr>
            </a:pPr>
            <a:r>
              <a:rPr sz="1875" b="1" i="0">
                <a:solidFill>
                  <a:srgbClr val="F7F3E8"/>
                </a:solidFill>
              </a:rPr>
              <a:t>ZERO SILENT GUESSES.</a:t>
            </a:r>
          </a:p>
        </p:txBody>
      </p:sp>
      <p:sp>
        <p:nvSpPr>
          <p:cNvPr id="9" name="s1-conflict">
            <a:extLst xmlns:a="http://schemas.openxmlformats.org/drawingml/2006/main">
              <a:ext uri="{FF2B5EF4-FFF2-40B4-BE49-F238E27FC236}">
                <a16:creationId xmlns:a16="http://schemas.microsoft.com/office/drawing/2014/main" id="{B01BCC1F-DADF-4ED5-8ECE-1BAF7CA5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1470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D184"/>
                </a:solidFill>
              </a:defRPr>
            </a:pPr>
            <a:r>
              <a:rPr sz="3150" b="1" i="0">
                <a:solidFill>
                  <a:srgbClr val="FFD184"/>
                </a:solidFill>
              </a:rPr>
              <a:t>1907  ≠  1909</a:t>
            </a:r>
          </a:p>
        </p:txBody>
      </p:sp>
      <p:sp>
        <p:nvSpPr>
          <p:cNvPr id="10" name="s1-tagline">
            <a:extLst xmlns:a="http://schemas.openxmlformats.org/drawingml/2006/main">
              <a:ext uri="{FF2B5EF4-FFF2-40B4-BE49-F238E27FC236}">
                <a16:creationId xmlns:a16="http://schemas.microsoft.com/office/drawing/2014/main" id="{60CF7098-ACF8-4020-BA3C-990E574A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291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D4E5DA"/>
                </a:solidFill>
              </a:defRPr>
            </a:pPr>
            <a:r>
              <a:rPr sz="1500" b="0" i="0">
                <a:solidFill>
                  <a:srgbClr val="D4E5DA"/>
                </a:solidFill>
              </a:rPr>
              <a:t>Conflict preserved.</a:t>
            </a:r>
          </a:p>
          <a:p xmlns:a="http://schemas.openxmlformats.org/drawingml/2006/main">
            <a:pPr algn="ctr">
              <a:defRPr sz="1500" b="0" i="0">
                <a:solidFill>
                  <a:srgbClr val="D4E5DA"/>
                </a:solidFill>
              </a:defRPr>
            </a:pPr>
            <a:r>
              <a:rPr sz="1500" b="0" i="0">
                <a:solidFill>
                  <a:srgbClr val="D4E5DA"/>
                </a:solidFill>
              </a:rPr>
              <a:t>Science protected.</a:t>
            </a:r>
          </a:p>
        </p:txBody>
      </p:sp>
      <p:sp>
        <p:nvSpPr>
          <p:cNvPr id="11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78A6275F-DCCC-491B-B301-922B9C3B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8877D"/>
                </a:solidFill>
              </a:defRPr>
            </a:pPr>
            <a:r>
              <a:rPr sz="750" b="0" i="0">
                <a:solidFill>
                  <a:srgbClr val="78877D"/>
                </a:solidFill>
              </a:rPr>
              <a:t>Specimen Casebook · Build Track</a:t>
            </a:r>
          </a:p>
        </p:txBody>
      </p:sp>
      <p:sp>
        <p:nvSpPr>
          <p:cNvPr id="12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134808DB-8D7E-4C86-A8F8-EDEDA5D9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8877D"/>
                </a:solidFill>
              </a:defRPr>
            </a:pPr>
            <a:r>
              <a:rPr sz="825" b="1" i="0">
                <a:solidFill>
                  <a:srgbClr val="78877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6406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kicker">
            <a:extLst xmlns:a="http://schemas.openxmlformats.org/drawingml/2006/main">
              <a:ext uri="{FF2B5EF4-FFF2-40B4-BE49-F238E27FC236}">
                <a16:creationId xmlns:a16="http://schemas.microsoft.com/office/drawing/2014/main" id="{EECC8751-BE7D-4577-A08B-EFD618A5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33E"/>
                </a:solidFill>
              </a:defRPr>
            </a:pPr>
            <a:r>
              <a:rPr sz="1050" b="1" i="0">
                <a:solidFill>
                  <a:srgbClr val="17633E"/>
                </a:solidFill>
              </a:rPr>
              <a:t>THE DATA-QUALITY RISK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2F715EAA-DDFA-4349-B1B3-E28BB091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334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7241D"/>
                </a:solidFill>
              </a:defRPr>
            </a:pPr>
            <a:r>
              <a:rPr sz="3375" b="1" i="0">
                <a:solidFill>
                  <a:srgbClr val="17241D"/>
                </a:solidFill>
              </a:rPr>
              <a:t>A single wrong date can become</a:t>
            </a:r>
          </a:p>
          <a:p xmlns:a="http://schemas.openxmlformats.org/drawingml/2006/main">
            <a:pPr algn="l">
              <a:defRPr sz="3375" b="1" i="0">
                <a:solidFill>
                  <a:srgbClr val="17241D"/>
                </a:solidFill>
              </a:defRPr>
            </a:pPr>
            <a:r>
              <a:rPr sz="3375" b="1" i="0">
                <a:solidFill>
                  <a:srgbClr val="17241D"/>
                </a:solidFill>
              </a:rPr>
              <a:t>published biodiversity data.</a:t>
            </a:r>
          </a:p>
        </p:txBody>
      </p:sp>
      <p:sp>
        <p:nvSpPr>
          <p:cNvPr id="3" name="s2-left-card">
            <a:extLst xmlns:a="http://schemas.openxmlformats.org/drawingml/2006/main">
              <a:ext uri="{FF2B5EF4-FFF2-40B4-BE49-F238E27FC236}">
                <a16:creationId xmlns:a16="http://schemas.microsoft.com/office/drawing/2014/main" id="{EAD91E58-6FE5-4C86-9179-445926C6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4" name="s2-left-label">
            <a:extLst xmlns:a="http://schemas.openxmlformats.org/drawingml/2006/main">
              <a:ext uri="{FF2B5EF4-FFF2-40B4-BE49-F238E27FC236}">
                <a16:creationId xmlns:a16="http://schemas.microsoft.com/office/drawing/2014/main" id="{54796322-7C80-44DF-A21F-2FD8D63A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5746A"/>
                </a:solidFill>
              </a:defRPr>
            </a:pPr>
            <a:r>
              <a:rPr sz="975" b="1" i="0">
                <a:solidFill>
                  <a:srgbClr val="65746A"/>
                </a:solidFill>
              </a:rPr>
              <a:t>ORIGINAL EVIDENCE</a:t>
            </a:r>
          </a:p>
        </p:txBody>
      </p:sp>
      <p:sp>
        <p:nvSpPr>
          <p:cNvPr id="5" name="s2-left-date">
            <a:extLst xmlns:a="http://schemas.openxmlformats.org/drawingml/2006/main">
              <a:ext uri="{FF2B5EF4-FFF2-40B4-BE49-F238E27FC236}">
                <a16:creationId xmlns:a16="http://schemas.microsoft.com/office/drawing/2014/main" id="{632E2E96-62BC-49E1-9638-CF40434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1" i="0">
                <a:solidFill>
                  <a:srgbClr val="17633E"/>
                </a:solidFill>
              </a:defRPr>
            </a:pPr>
            <a:r>
              <a:rPr sz="5250" b="1" i="0">
                <a:solidFill>
                  <a:srgbClr val="17633E"/>
                </a:solidFill>
              </a:rPr>
              <a:t>1907</a:t>
            </a:r>
          </a:p>
        </p:txBody>
      </p:sp>
      <p:sp>
        <p:nvSpPr>
          <p:cNvPr id="6" name="s2-left-source">
            <a:extLst xmlns:a="http://schemas.openxmlformats.org/drawingml/2006/main">
              <a:ext uri="{FF2B5EF4-FFF2-40B4-BE49-F238E27FC236}">
                <a16:creationId xmlns:a16="http://schemas.microsoft.com/office/drawing/2014/main" id="{80AD8F25-4017-42C8-AF0C-E95500D7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746A"/>
                </a:solidFill>
              </a:defRPr>
            </a:pPr>
            <a:r>
              <a:rPr sz="1275" b="0" i="0">
                <a:solidFill>
                  <a:srgbClr val="65746A"/>
                </a:solidFill>
              </a:rPr>
              <a:t>specimen label + field ledger</a:t>
            </a:r>
          </a:p>
        </p:txBody>
      </p:sp>
      <p:sp>
        <p:nvSpPr>
          <p:cNvPr id="7" name="s2-arrow">
            <a:extLst xmlns:a="http://schemas.openxmlformats.org/drawingml/2006/main">
              <a:ext uri="{FF2B5EF4-FFF2-40B4-BE49-F238E27FC236}">
                <a16:creationId xmlns:a16="http://schemas.microsoft.com/office/drawing/2014/main" id="{BF99EDD3-8AC1-48E3-9B05-CC5EFA6B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200" b="0" i="0">
                <a:solidFill>
                  <a:srgbClr val="65746A"/>
                </a:solidFill>
              </a:defRPr>
            </a:pPr>
            <a:r>
              <a:rPr sz="4200" b="0" i="0">
                <a:solidFill>
                  <a:srgbClr val="65746A"/>
                </a:solidFill>
              </a:rPr>
              <a:t>→</a:t>
            </a:r>
          </a:p>
        </p:txBody>
      </p:sp>
      <p:sp>
        <p:nvSpPr>
          <p:cNvPr id="8" name="s2-right-card">
            <a:extLst xmlns:a="http://schemas.openxmlformats.org/drawingml/2006/main">
              <a:ext uri="{FF2B5EF4-FFF2-40B4-BE49-F238E27FC236}">
                <a16:creationId xmlns:a16="http://schemas.microsoft.com/office/drawing/2014/main" id="{90F4C83D-9872-4143-B245-0796EA97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3048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0D3"/>
          </a:solidFill>
          <a:ln xmlns:a="http://schemas.openxmlformats.org/drawingml/2006/main" w="9525">
            <a:solidFill>
              <a:srgbClr val="E6B45D"/>
            </a:solidFill>
            <a:prstDash val="solid"/>
          </a:ln>
        </p:spPr>
      </p:sp>
      <p:sp>
        <p:nvSpPr>
          <p:cNvPr id="9" name="s2-right-label">
            <a:extLst xmlns:a="http://schemas.openxmlformats.org/drawingml/2006/main">
              <a:ext uri="{FF2B5EF4-FFF2-40B4-BE49-F238E27FC236}">
                <a16:creationId xmlns:a16="http://schemas.microsoft.com/office/drawing/2014/main" id="{FE64067C-4D8E-46E6-B527-0D9752B3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718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7600E"/>
                </a:solidFill>
              </a:defRPr>
            </a:pPr>
            <a:r>
              <a:rPr sz="975" b="1" i="0">
                <a:solidFill>
                  <a:srgbClr val="97600E"/>
                </a:solidFill>
              </a:rPr>
              <a:t>LEGACY DATABASE</a:t>
            </a:r>
          </a:p>
        </p:txBody>
      </p:sp>
      <p:sp>
        <p:nvSpPr>
          <p:cNvPr id="10" name="s2-right-date">
            <a:extLst xmlns:a="http://schemas.openxmlformats.org/drawingml/2006/main">
              <a:ext uri="{FF2B5EF4-FFF2-40B4-BE49-F238E27FC236}">
                <a16:creationId xmlns:a16="http://schemas.microsoft.com/office/drawing/2014/main" id="{7DCB5480-9ABF-4BCA-9E17-3271A24C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81375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1" i="0">
                <a:solidFill>
                  <a:srgbClr val="DC850D"/>
                </a:solidFill>
              </a:defRPr>
            </a:pPr>
            <a:r>
              <a:rPr sz="5250" b="1" i="0">
                <a:solidFill>
                  <a:srgbClr val="DC850D"/>
                </a:solidFill>
              </a:rPr>
              <a:t>1909</a:t>
            </a:r>
          </a:p>
        </p:txBody>
      </p:sp>
      <p:sp>
        <p:nvSpPr>
          <p:cNvPr id="11" name="s2-right-source">
            <a:extLst xmlns:a="http://schemas.openxmlformats.org/drawingml/2006/main">
              <a:ext uri="{FF2B5EF4-FFF2-40B4-BE49-F238E27FC236}">
                <a16:creationId xmlns:a16="http://schemas.microsoft.com/office/drawing/2014/main" id="{04BBBAB4-C90D-4706-858C-9A83E921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805D27"/>
                </a:solidFill>
              </a:defRPr>
            </a:pPr>
            <a:r>
              <a:rPr sz="1275" b="0" i="0">
                <a:solidFill>
                  <a:srgbClr val="805D27"/>
                </a:solidFill>
              </a:rPr>
              <a:t>ready to publish as “fact”</a:t>
            </a:r>
          </a:p>
        </p:txBody>
      </p:sp>
      <p:sp>
        <p:nvSpPr>
          <p:cNvPr id="12" name="s2-statement">
            <a:extLst xmlns:a="http://schemas.openxmlformats.org/drawingml/2006/main">
              <a:ext uri="{FF2B5EF4-FFF2-40B4-BE49-F238E27FC236}">
                <a16:creationId xmlns:a16="http://schemas.microsoft.com/office/drawing/2014/main" id="{35F40D7C-9995-4220-B398-5240F631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8384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0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statement-copy">
            <a:extLst xmlns:a="http://schemas.openxmlformats.org/drawingml/2006/main">
              <a:ext uri="{FF2B5EF4-FFF2-40B4-BE49-F238E27FC236}">
                <a16:creationId xmlns:a16="http://schemas.microsoft.com/office/drawing/2014/main" id="{6B6613B1-095B-4DB0-9F70-1F1BC53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861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7F3E8"/>
                </a:solidFill>
              </a:defRPr>
            </a:pPr>
            <a:r>
              <a:rPr sz="2025" b="1" i="0">
                <a:solidFill>
                  <a:srgbClr val="F7F3E8"/>
                </a:solidFill>
              </a:rPr>
              <a:t>The risk is not</a:t>
            </a:r>
          </a:p>
          <a:p xmlns:a="http://schemas.openxmlformats.org/drawingml/2006/main">
            <a:pPr algn="ctr">
              <a:defRPr sz="2025" b="1" i="0">
                <a:solidFill>
                  <a:srgbClr val="F7F3E8"/>
                </a:solidFill>
              </a:defRPr>
            </a:pPr>
            <a:r>
              <a:rPr sz="2025" b="1" i="0">
                <a:solidFill>
                  <a:srgbClr val="F7F3E8"/>
                </a:solidFill>
              </a:rPr>
              <a:t>slow transcription.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1" i="0">
                <a:solidFill>
                  <a:srgbClr val="F7F3E8"/>
                </a:solidFill>
              </a:defRPr>
            </a:pPr>
            <a:r>
              <a:rPr sz="2025" b="1" i="0">
                <a:solidFill>
                  <a:srgbClr val="F7F3E8"/>
                </a:solidFill>
              </a:rPr>
              <a:t>It is false certainty.</a:t>
            </a:r>
          </a:p>
        </p:txBody>
      </p:sp>
      <p:sp>
        <p:nvSpPr>
          <p:cNvPr id="14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33C56757-33F4-4824-9048-EA1D67D2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8877D"/>
                </a:solidFill>
              </a:defRPr>
            </a:pPr>
            <a:r>
              <a:rPr sz="750" b="0" i="0">
                <a:solidFill>
                  <a:srgbClr val="78877D"/>
                </a:solidFill>
              </a:rPr>
              <a:t>Darwin Core is a standard for biodiversity data sharing · dwc.tdwg.org</a:t>
            </a:r>
          </a:p>
        </p:txBody>
      </p:sp>
      <p:sp>
        <p:nvSpPr>
          <p:cNvPr id="1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60A0EA6B-0F1B-45B7-B1DF-6C2A5FA0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8877D"/>
                </a:solidFill>
              </a:defRPr>
            </a:pPr>
            <a:r>
              <a:rPr sz="825" b="1" i="0">
                <a:solidFill>
                  <a:srgbClr val="78877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0754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3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kicker">
            <a:extLst xmlns:a="http://schemas.openxmlformats.org/drawingml/2006/main">
              <a:ext uri="{FF2B5EF4-FFF2-40B4-BE49-F238E27FC236}">
                <a16:creationId xmlns:a16="http://schemas.microsoft.com/office/drawing/2014/main" id="{C9FFB9E0-C760-4EE2-8525-F0AA3F45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FD5C8"/>
                </a:solidFill>
              </a:defRPr>
            </a:pPr>
            <a:r>
              <a:rPr sz="1050" b="1" i="0">
                <a:solidFill>
                  <a:srgbClr val="BFD5C8"/>
                </a:solidFill>
              </a:rPr>
              <a:t>A NAMED LIFE-SCIENCES USER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98E6DFD9-DD04-4313-8921-779F8D63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66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7F3E8"/>
                </a:solidFill>
              </a:defRPr>
            </a:pPr>
            <a:r>
              <a:rPr sz="3600" b="1" i="0">
                <a:solidFill>
                  <a:srgbClr val="F7F3E8"/>
                </a:solidFill>
              </a:rPr>
              <a:t>Built for a herbarium</a:t>
            </a:r>
          </a:p>
          <a:p xmlns:a="http://schemas.openxmlformats.org/drawingml/2006/main">
            <a:pPr algn="l">
              <a:defRPr sz="3600" b="1" i="0">
                <a:solidFill>
                  <a:srgbClr val="F7F3E8"/>
                </a:solidFill>
              </a:defRPr>
            </a:pPr>
            <a:r>
              <a:rPr sz="3600" b="1" i="0">
                <a:solidFill>
                  <a:srgbClr val="F7F3E8"/>
                </a:solidFill>
              </a:rPr>
              <a:t>collections data manager.</a:t>
            </a:r>
          </a:p>
        </p:txBody>
      </p:sp>
      <p:sp>
        <p:nvSpPr>
          <p:cNvPr id="3" name="s3-body">
            <a:extLst xmlns:a="http://schemas.openxmlformats.org/drawingml/2006/main">
              <a:ext uri="{FF2B5EF4-FFF2-40B4-BE49-F238E27FC236}">
                <a16:creationId xmlns:a16="http://schemas.microsoft.com/office/drawing/2014/main" id="{5D29295E-9E03-4A09-AB8A-C7ED0A4A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6E4DB"/>
                </a:solidFill>
              </a:defRPr>
            </a:pPr>
            <a:r>
              <a:rPr sz="1875" b="0" i="0">
                <a:solidFill>
                  <a:srgbClr val="D6E4DB"/>
                </a:solidFill>
              </a:rPr>
              <a:t>Their job is to compare fragments that disagree—then publish one trustworthy record without losing the evidence behind it.</a:t>
            </a:r>
          </a:p>
        </p:txBody>
      </p:sp>
      <p:sp>
        <p:nvSpPr>
          <p:cNvPr id="4" name="s3-source-0">
            <a:extLst xmlns:a="http://schemas.openxmlformats.org/drawingml/2006/main">
              <a:ext uri="{FF2B5EF4-FFF2-40B4-BE49-F238E27FC236}">
                <a16:creationId xmlns:a16="http://schemas.microsoft.com/office/drawing/2014/main" id="{B6EE61FC-227B-42EA-AFA4-B654854B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5" name="s3-source-n-0">
            <a:extLst xmlns:a="http://schemas.openxmlformats.org/drawingml/2006/main">
              <a:ext uri="{FF2B5EF4-FFF2-40B4-BE49-F238E27FC236}">
                <a16:creationId xmlns:a16="http://schemas.microsoft.com/office/drawing/2014/main" id="{8F2B0302-9CAA-430F-9467-0E9C819A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671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D184"/>
                </a:solidFill>
              </a:defRPr>
            </a:pPr>
            <a:r>
              <a:rPr sz="975" b="1" i="0">
                <a:solidFill>
                  <a:srgbClr val="FFD184"/>
                </a:solidFill>
              </a:rPr>
              <a:t>01</a:t>
            </a:r>
          </a:p>
        </p:txBody>
      </p:sp>
      <p:sp>
        <p:nvSpPr>
          <p:cNvPr id="6" name="s3-source-label-0">
            <a:extLst xmlns:a="http://schemas.openxmlformats.org/drawingml/2006/main">
              <a:ext uri="{FF2B5EF4-FFF2-40B4-BE49-F238E27FC236}">
                <a16:creationId xmlns:a16="http://schemas.microsoft.com/office/drawing/2014/main" id="{5FEBBFE2-C478-4BCD-A35F-5285D817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7F3E8"/>
                </a:solidFill>
              </a:defRPr>
            </a:pPr>
            <a:r>
              <a:rPr sz="1200" b="1" i="0">
                <a:solidFill>
                  <a:srgbClr val="F7F3E8"/>
                </a:solidFill>
              </a:rPr>
              <a:t>Specimen label</a:t>
            </a:r>
          </a:p>
        </p:txBody>
      </p:sp>
      <p:sp>
        <p:nvSpPr>
          <p:cNvPr id="7" name="s3-source-1">
            <a:extLst xmlns:a="http://schemas.openxmlformats.org/drawingml/2006/main">
              <a:ext uri="{FF2B5EF4-FFF2-40B4-BE49-F238E27FC236}">
                <a16:creationId xmlns:a16="http://schemas.microsoft.com/office/drawing/2014/main" id="{3FD11144-B01F-4B06-B98E-37E11993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0525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8" name="s3-source-n-1">
            <a:extLst xmlns:a="http://schemas.openxmlformats.org/drawingml/2006/main">
              <a:ext uri="{FF2B5EF4-FFF2-40B4-BE49-F238E27FC236}">
                <a16:creationId xmlns:a16="http://schemas.microsoft.com/office/drawing/2014/main" id="{FFA35A03-0C50-466B-ACD8-17A7BCC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0671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D184"/>
                </a:solidFill>
              </a:defRPr>
            </a:pPr>
            <a:r>
              <a:rPr sz="975" b="1" i="0">
                <a:solidFill>
                  <a:srgbClr val="FFD184"/>
                </a:solidFill>
              </a:rPr>
              <a:t>02</a:t>
            </a:r>
          </a:p>
        </p:txBody>
      </p:sp>
      <p:sp>
        <p:nvSpPr>
          <p:cNvPr id="9" name="s3-source-label-1">
            <a:extLst xmlns:a="http://schemas.openxmlformats.org/drawingml/2006/main">
              <a:ext uri="{FF2B5EF4-FFF2-40B4-BE49-F238E27FC236}">
                <a16:creationId xmlns:a16="http://schemas.microsoft.com/office/drawing/2014/main" id="{4D8144FE-2AD1-46B2-A21B-4FEBEE38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195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7F3E8"/>
                </a:solidFill>
              </a:defRPr>
            </a:pPr>
            <a:r>
              <a:rPr sz="1200" b="1" i="0">
                <a:solidFill>
                  <a:srgbClr val="F7F3E8"/>
                </a:solidFill>
              </a:rPr>
              <a:t>Field ledger</a:t>
            </a:r>
          </a:p>
        </p:txBody>
      </p:sp>
      <p:sp>
        <p:nvSpPr>
          <p:cNvPr id="10" name="s3-source-2">
            <a:extLst xmlns:a="http://schemas.openxmlformats.org/drawingml/2006/main">
              <a:ext uri="{FF2B5EF4-FFF2-40B4-BE49-F238E27FC236}">
                <a16:creationId xmlns:a16="http://schemas.microsoft.com/office/drawing/2014/main" id="{7F97F796-A5E7-47E0-8166-CB1D2DDA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11" name="s3-source-n-2">
            <a:extLst xmlns:a="http://schemas.openxmlformats.org/drawingml/2006/main">
              <a:ext uri="{FF2B5EF4-FFF2-40B4-BE49-F238E27FC236}">
                <a16:creationId xmlns:a16="http://schemas.microsoft.com/office/drawing/2014/main" id="{A5E697AD-2F16-4A8D-9F0E-10E8011B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0671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D184"/>
                </a:solidFill>
              </a:defRPr>
            </a:pPr>
            <a:r>
              <a:rPr sz="975" b="1" i="0">
                <a:solidFill>
                  <a:srgbClr val="FFD184"/>
                </a:solidFill>
              </a:rPr>
              <a:t>03</a:t>
            </a:r>
          </a:p>
        </p:txBody>
      </p:sp>
      <p:sp>
        <p:nvSpPr>
          <p:cNvPr id="12" name="s3-source-label-2">
            <a:extLst xmlns:a="http://schemas.openxmlformats.org/drawingml/2006/main">
              <a:ext uri="{FF2B5EF4-FFF2-40B4-BE49-F238E27FC236}">
                <a16:creationId xmlns:a16="http://schemas.microsoft.com/office/drawing/2014/main" id="{D41D3C13-0662-4010-9BD6-5AD3856E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95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7F3E8"/>
                </a:solidFill>
              </a:defRPr>
            </a:pPr>
            <a:r>
              <a:rPr sz="1200" b="1" i="0">
                <a:solidFill>
                  <a:srgbClr val="F7F3E8"/>
                </a:solidFill>
              </a:rPr>
              <a:t>Legacy database</a:t>
            </a:r>
          </a:p>
        </p:txBody>
      </p:sp>
      <p:sp>
        <p:nvSpPr>
          <p:cNvPr id="13" name="s3-source-3">
            <a:extLst xmlns:a="http://schemas.openxmlformats.org/drawingml/2006/main">
              <a:ext uri="{FF2B5EF4-FFF2-40B4-BE49-F238E27FC236}">
                <a16:creationId xmlns:a16="http://schemas.microsoft.com/office/drawing/2014/main" id="{8CB52C39-14CB-4D22-AD5A-BEDC2AC8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14" name="s3-source-n-3">
            <a:extLst xmlns:a="http://schemas.openxmlformats.org/drawingml/2006/main">
              <a:ext uri="{FF2B5EF4-FFF2-40B4-BE49-F238E27FC236}">
                <a16:creationId xmlns:a16="http://schemas.microsoft.com/office/drawing/2014/main" id="{A20D8129-FC7E-421B-B79A-873615FD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625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D184"/>
                </a:solidFill>
              </a:defRPr>
            </a:pPr>
            <a:r>
              <a:rPr sz="975" b="1" i="0">
                <a:solidFill>
                  <a:srgbClr val="FFD184"/>
                </a:solidFill>
              </a:rPr>
              <a:t>04</a:t>
            </a:r>
          </a:p>
        </p:txBody>
      </p:sp>
      <p:sp>
        <p:nvSpPr>
          <p:cNvPr id="15" name="s3-source-label-3">
            <a:extLst xmlns:a="http://schemas.openxmlformats.org/drawingml/2006/main">
              <a:ext uri="{FF2B5EF4-FFF2-40B4-BE49-F238E27FC236}">
                <a16:creationId xmlns:a16="http://schemas.microsoft.com/office/drawing/2014/main" id="{75C79905-2A50-459F-BD2B-E09766F8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7F3E8"/>
                </a:solidFill>
              </a:defRPr>
            </a:pPr>
            <a:r>
              <a:rPr sz="1200" b="1" i="0">
                <a:solidFill>
                  <a:srgbClr val="F7F3E8"/>
                </a:solidFill>
              </a:rPr>
              <a:t>Collector notebook</a:t>
            </a:r>
          </a:p>
        </p:txBody>
      </p:sp>
      <p:sp>
        <p:nvSpPr>
          <p:cNvPr id="16" name="s3-source-4">
            <a:extLst xmlns:a="http://schemas.openxmlformats.org/drawingml/2006/main">
              <a:ext uri="{FF2B5EF4-FFF2-40B4-BE49-F238E27FC236}">
                <a16:creationId xmlns:a16="http://schemas.microsoft.com/office/drawing/2014/main" id="{A8E78030-814A-48B7-84BA-87F18D19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0060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17" name="s3-source-n-4">
            <a:extLst xmlns:a="http://schemas.openxmlformats.org/drawingml/2006/main">
              <a:ext uri="{FF2B5EF4-FFF2-40B4-BE49-F238E27FC236}">
                <a16:creationId xmlns:a16="http://schemas.microsoft.com/office/drawing/2014/main" id="{98843267-8926-4471-916C-CD0E6C4A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625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D184"/>
                </a:solidFill>
              </a:defRPr>
            </a:pPr>
            <a:r>
              <a:rPr sz="975" b="1" i="0">
                <a:solidFill>
                  <a:srgbClr val="FFD184"/>
                </a:solidFill>
              </a:rPr>
              <a:t>05</a:t>
            </a:r>
          </a:p>
        </p:txBody>
      </p:sp>
      <p:sp>
        <p:nvSpPr>
          <p:cNvPr id="18" name="s3-source-label-4">
            <a:extLst xmlns:a="http://schemas.openxmlformats.org/drawingml/2006/main">
              <a:ext uri="{FF2B5EF4-FFF2-40B4-BE49-F238E27FC236}">
                <a16:creationId xmlns:a16="http://schemas.microsoft.com/office/drawing/2014/main" id="{0DB1FAE8-3CAB-4FF8-B2F1-9B7B5543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1490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7F3E8"/>
                </a:solidFill>
              </a:defRPr>
            </a:pPr>
            <a:r>
              <a:rPr sz="1200" b="1" i="0">
                <a:solidFill>
                  <a:srgbClr val="F7F3E8"/>
                </a:solidFill>
              </a:rPr>
              <a:t>Taxonomy history</a:t>
            </a:r>
          </a:p>
        </p:txBody>
      </p:sp>
      <p:sp>
        <p:nvSpPr>
          <p:cNvPr id="19" name="s3-user-story">
            <a:extLst xmlns:a="http://schemas.openxmlformats.org/drawingml/2006/main">
              <a:ext uri="{FF2B5EF4-FFF2-40B4-BE49-F238E27FC236}">
                <a16:creationId xmlns:a16="http://schemas.microsoft.com/office/drawing/2014/main" id="{77D87918-3A92-46CA-9719-151AFC21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28700"/>
            <a:ext cx="3981450" cy="4476750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3-quote">
            <a:extLst xmlns:a="http://schemas.openxmlformats.org/drawingml/2006/main">
              <a:ext uri="{FF2B5EF4-FFF2-40B4-BE49-F238E27FC236}">
                <a16:creationId xmlns:a16="http://schemas.microsoft.com/office/drawing/2014/main" id="{9DB4347A-594D-43BF-BE00-72A8168C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1">
                <a:solidFill>
                  <a:srgbClr val="17241D"/>
                </a:solidFill>
              </a:defRPr>
            </a:pPr>
            <a:r>
              <a:rPr sz="2250" b="0" i="1">
                <a:solidFill>
                  <a:srgbClr val="17241D"/>
                </a:solidFill>
              </a:rPr>
              <a:t>“Reconcile each field, preserve every conflict, and show me exactly where every value came from.”</a:t>
            </a:r>
          </a:p>
        </p:txBody>
      </p:sp>
      <p:sp>
        <p:nvSpPr>
          <p:cNvPr id="21" name="s3-quote-rule">
            <a:extLst xmlns:a="http://schemas.openxmlformats.org/drawingml/2006/main">
              <a:ext uri="{FF2B5EF4-FFF2-40B4-BE49-F238E27FC236}">
                <a16:creationId xmlns:a16="http://schemas.microsoft.com/office/drawing/2014/main" id="{22C51E8D-EDA3-4BA5-8BEA-AC9ADC1B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5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3-role">
            <a:extLst xmlns:a="http://schemas.openxmlformats.org/drawingml/2006/main">
              <a:ext uri="{FF2B5EF4-FFF2-40B4-BE49-F238E27FC236}">
                <a16:creationId xmlns:a16="http://schemas.microsoft.com/office/drawing/2014/main" id="{A7B9F1D1-D5A4-4D86-BF09-C8BCC999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33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633E"/>
                </a:solidFill>
              </a:defRPr>
            </a:pPr>
            <a:r>
              <a:rPr sz="1200" b="1" i="0">
                <a:solidFill>
                  <a:srgbClr val="17633E"/>
                </a:solidFill>
              </a:rPr>
              <a:t>HERBARIUM COLLECTIONS</a:t>
            </a:r>
          </a:p>
          <a:p xmlns:a="http://schemas.openxmlformats.org/drawingml/2006/main">
            <a:pPr algn="l">
              <a:defRPr sz="1200" b="1" i="0">
                <a:solidFill>
                  <a:srgbClr val="17633E"/>
                </a:solidFill>
              </a:defRPr>
            </a:pPr>
            <a:r>
              <a:rPr sz="1200" b="1" i="0">
                <a:solidFill>
                  <a:srgbClr val="17633E"/>
                </a:solidFill>
              </a:rPr>
              <a:t>DATA MANAGER</a:t>
            </a:r>
          </a:p>
        </p:txBody>
      </p:sp>
      <p:sp>
        <p:nvSpPr>
          <p:cNvPr id="23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70E73DBA-76AC-436B-98B1-DFA3CDF2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8877D"/>
                </a:solidFill>
              </a:defRPr>
            </a:pPr>
            <a:r>
              <a:rPr sz="750" b="0" i="0">
                <a:solidFill>
                  <a:srgbClr val="78877D"/>
                </a:solidFill>
              </a:rPr>
              <a:t>Build Track: start from a user in life sciences you can name · cerebralvalley.ai</a:t>
            </a:r>
          </a:p>
        </p:txBody>
      </p:sp>
      <p:sp>
        <p:nvSpPr>
          <p:cNvPr id="24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928478B5-5C18-4CF4-86E4-A5005E17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8877D"/>
                </a:solidFill>
              </a:defRPr>
            </a:pPr>
            <a:r>
              <a:rPr sz="825" b="1" i="0">
                <a:solidFill>
                  <a:srgbClr val="78877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0519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kicker">
            <a:extLst xmlns:a="http://schemas.openxmlformats.org/drawingml/2006/main">
              <a:ext uri="{FF2B5EF4-FFF2-40B4-BE49-F238E27FC236}">
                <a16:creationId xmlns:a16="http://schemas.microsoft.com/office/drawing/2014/main" id="{9E11774B-A673-4E66-BE53-7E3430F9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633E"/>
                </a:solidFill>
              </a:defRPr>
            </a:pPr>
            <a:r>
              <a:rPr sz="975" b="1" i="0">
                <a:solidFill>
                  <a:srgbClr val="17633E"/>
                </a:solidFill>
              </a:rPr>
              <a:t>THE WORKING PRODUCT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BAA5C669-E913-41F2-9CE7-DD55CF7F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381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241D"/>
                </a:solidFill>
              </a:defRPr>
            </a:pPr>
            <a:r>
              <a:rPr sz="3150" b="1" i="0">
                <a:solidFill>
                  <a:srgbClr val="17241D"/>
                </a:solidFill>
              </a:rPr>
              <a:t>Claude reconciles evidence</a:t>
            </a:r>
          </a:p>
          <a:p xmlns:a="http://schemas.openxmlformats.org/drawingml/2006/main">
            <a:pPr algn="l">
              <a:defRPr sz="3150" b="1" i="0">
                <a:solidFill>
                  <a:srgbClr val="17241D"/>
                </a:solidFill>
              </a:defRPr>
            </a:pPr>
            <a:r>
              <a:rPr sz="3150" b="1" i="0">
                <a:solidFill>
                  <a:srgbClr val="17241D"/>
                </a:solidFill>
              </a:rPr>
              <a:t>field by field.</a:t>
            </a:r>
          </a:p>
        </p:txBody>
      </p:sp>
      <p:sp>
        <p:nvSpPr>
          <p:cNvPr id="3" name="s4-step-n-0">
            <a:extLst xmlns:a="http://schemas.openxmlformats.org/drawingml/2006/main">
              <a:ext uri="{FF2B5EF4-FFF2-40B4-BE49-F238E27FC236}">
                <a16:creationId xmlns:a16="http://schemas.microsoft.com/office/drawing/2014/main" id="{58EBA547-E4C1-4ACE-BDDE-96E53F2C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s4-n-bg-0">
            <a:extLst xmlns:a="http://schemas.openxmlformats.org/drawingml/2006/main">
              <a:ext uri="{FF2B5EF4-FFF2-40B4-BE49-F238E27FC236}">
                <a16:creationId xmlns:a16="http://schemas.microsoft.com/office/drawing/2014/main" id="{550BC1C0-CFC3-4913-AD3B-F38ADDED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4-n-0">
            <a:extLst xmlns:a="http://schemas.openxmlformats.org/drawingml/2006/main">
              <a:ext uri="{FF2B5EF4-FFF2-40B4-BE49-F238E27FC236}">
                <a16:creationId xmlns:a16="http://schemas.microsoft.com/office/drawing/2014/main" id="{1CE616DF-C8CB-4268-B356-5C8FDA04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4-step-title-0">
            <a:extLst xmlns:a="http://schemas.openxmlformats.org/drawingml/2006/main">
              <a:ext uri="{FF2B5EF4-FFF2-40B4-BE49-F238E27FC236}">
                <a16:creationId xmlns:a16="http://schemas.microsoft.com/office/drawing/2014/main" id="{1E41C697-B610-4052-8C3F-D2B7473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41D"/>
                </a:solidFill>
              </a:defRPr>
            </a:pPr>
            <a:r>
              <a:rPr sz="1575" b="1" i="0">
                <a:solidFill>
                  <a:srgbClr val="17241D"/>
                </a:solidFill>
              </a:rPr>
              <a:t>Read every source</a:t>
            </a:r>
          </a:p>
        </p:txBody>
      </p:sp>
      <p:sp>
        <p:nvSpPr>
          <p:cNvPr id="7" name="s4-step-body-0">
            <a:extLst xmlns:a="http://schemas.openxmlformats.org/drawingml/2006/main">
              <a:ext uri="{FF2B5EF4-FFF2-40B4-BE49-F238E27FC236}">
                <a16:creationId xmlns:a16="http://schemas.microsoft.com/office/drawing/2014/main" id="{AD057F32-FD8F-4D4E-A000-103250F8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6A"/>
                </a:solidFill>
              </a:defRPr>
            </a:pPr>
            <a:r>
              <a:rPr sz="1200" b="0" i="0">
                <a:solidFill>
                  <a:srgbClr val="65746A"/>
                </a:solidFill>
              </a:rPr>
              <a:t>labels, ledgers, JSON and CSV</a:t>
            </a:r>
          </a:p>
        </p:txBody>
      </p:sp>
      <p:sp>
        <p:nvSpPr>
          <p:cNvPr id="8" name="s4-step-n-1">
            <a:extLst xmlns:a="http://schemas.openxmlformats.org/drawingml/2006/main">
              <a:ext uri="{FF2B5EF4-FFF2-40B4-BE49-F238E27FC236}">
                <a16:creationId xmlns:a16="http://schemas.microsoft.com/office/drawing/2014/main" id="{DFE42467-7944-4701-B6DE-320C76C1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s4-n-bg-1">
            <a:extLst xmlns:a="http://schemas.openxmlformats.org/drawingml/2006/main">
              <a:ext uri="{FF2B5EF4-FFF2-40B4-BE49-F238E27FC236}">
                <a16:creationId xmlns:a16="http://schemas.microsoft.com/office/drawing/2014/main" id="{DE0BD317-2F6B-4186-A4E5-D1B05B2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4-n-1">
            <a:extLst xmlns:a="http://schemas.openxmlformats.org/drawingml/2006/main">
              <a:ext uri="{FF2B5EF4-FFF2-40B4-BE49-F238E27FC236}">
                <a16:creationId xmlns:a16="http://schemas.microsoft.com/office/drawing/2014/main" id="{2DC84811-1734-4A51-B123-58B3F400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4-step-title-1">
            <a:extLst xmlns:a="http://schemas.openxmlformats.org/drawingml/2006/main">
              <a:ext uri="{FF2B5EF4-FFF2-40B4-BE49-F238E27FC236}">
                <a16:creationId xmlns:a16="http://schemas.microsoft.com/office/drawing/2014/main" id="{3849B37C-137A-4643-82C1-3B97411C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41D"/>
                </a:solidFill>
              </a:defRPr>
            </a:pPr>
            <a:r>
              <a:rPr sz="1575" b="1" i="0">
                <a:solidFill>
                  <a:srgbClr val="17241D"/>
                </a:solidFill>
              </a:rPr>
              <a:t>Compare claims</a:t>
            </a:r>
          </a:p>
        </p:txBody>
      </p:sp>
      <p:sp>
        <p:nvSpPr>
          <p:cNvPr id="12" name="s4-step-body-1">
            <a:extLst xmlns:a="http://schemas.openxmlformats.org/drawingml/2006/main">
              <a:ext uri="{FF2B5EF4-FFF2-40B4-BE49-F238E27FC236}">
                <a16:creationId xmlns:a16="http://schemas.microsoft.com/office/drawing/2014/main" id="{29D21DB2-FA9C-4458-B80F-2D28B461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6A"/>
                </a:solidFill>
              </a:defRPr>
            </a:pPr>
            <a:r>
              <a:rPr sz="1200" b="0" i="0">
                <a:solidFill>
                  <a:srgbClr val="65746A"/>
                </a:solidFill>
              </a:rPr>
              <a:t>per field—not per document</a:t>
            </a:r>
          </a:p>
        </p:txBody>
      </p:sp>
      <p:sp>
        <p:nvSpPr>
          <p:cNvPr id="13" name="s4-step-n-2">
            <a:extLst xmlns:a="http://schemas.openxmlformats.org/drawingml/2006/main">
              <a:ext uri="{FF2B5EF4-FFF2-40B4-BE49-F238E27FC236}">
                <a16:creationId xmlns:a16="http://schemas.microsoft.com/office/drawing/2014/main" id="{40332AE1-8B09-43FA-85FA-ED71E588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s4-n-bg-2">
            <a:extLst xmlns:a="http://schemas.openxmlformats.org/drawingml/2006/main">
              <a:ext uri="{FF2B5EF4-FFF2-40B4-BE49-F238E27FC236}">
                <a16:creationId xmlns:a16="http://schemas.microsoft.com/office/drawing/2014/main" id="{87432BD3-A17D-4F1F-AABE-DC69336F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4-n-2">
            <a:extLst xmlns:a="http://schemas.openxmlformats.org/drawingml/2006/main">
              <a:ext uri="{FF2B5EF4-FFF2-40B4-BE49-F238E27FC236}">
                <a16:creationId xmlns:a16="http://schemas.microsoft.com/office/drawing/2014/main" id="{530A1872-1D14-4D88-9654-A2D9BB7E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4-step-title-2">
            <a:extLst xmlns:a="http://schemas.openxmlformats.org/drawingml/2006/main">
              <a:ext uri="{FF2B5EF4-FFF2-40B4-BE49-F238E27FC236}">
                <a16:creationId xmlns:a16="http://schemas.microsoft.com/office/drawing/2014/main" id="{FAD418FD-F068-410B-A092-E74C40A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41D"/>
                </a:solidFill>
              </a:defRPr>
            </a:pPr>
            <a:r>
              <a:rPr sz="1575" b="1" i="0">
                <a:solidFill>
                  <a:srgbClr val="17241D"/>
                </a:solidFill>
              </a:rPr>
              <a:t>Keep uncertainty</a:t>
            </a:r>
          </a:p>
        </p:txBody>
      </p:sp>
      <p:sp>
        <p:nvSpPr>
          <p:cNvPr id="17" name="s4-step-body-2">
            <a:extLst xmlns:a="http://schemas.openxmlformats.org/drawingml/2006/main">
              <a:ext uri="{FF2B5EF4-FFF2-40B4-BE49-F238E27FC236}">
                <a16:creationId xmlns:a16="http://schemas.microsoft.com/office/drawing/2014/main" id="{6AC9A10B-B956-4636-8912-756F793C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6A"/>
                </a:solidFill>
              </a:defRPr>
            </a:pPr>
            <a:r>
              <a:rPr sz="1200" b="0" i="0">
                <a:solidFill>
                  <a:srgbClr val="65746A"/>
                </a:solidFill>
              </a:rPr>
              <a:t>confirmed, inferred, conflicting, missing</a:t>
            </a:r>
          </a:p>
        </p:txBody>
      </p:sp>
      <p:sp>
        <p:nvSpPr>
          <p:cNvPr id="18" name="s4-image-frame">
            <a:extLst xmlns:a="http://schemas.openxmlformats.org/drawingml/2006/main">
              <a:ext uri="{FF2B5EF4-FFF2-40B4-BE49-F238E27FC236}">
                <a16:creationId xmlns:a16="http://schemas.microsoft.com/office/drawing/2014/main" id="{2A9A93CE-C4B0-4A08-A08A-527F9C0C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9100"/>
            <a:ext cx="7067550" cy="5962650"/>
          </a:xfrm>
          <a:prstGeom xmlns:a="http://schemas.openxmlformats.org/drawingml/2006/main" prst="roundRect">
            <a:avLst>
              <a:gd name="adj" fmla="val 1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32cb746b4da4"/>
          <a:stretch xmlns:a="http://schemas.openxmlformats.org/drawingml/2006/main"/>
        </p:blipFill>
        <p:spPr>
          <a:xfrm xmlns:a="http://schemas.openxmlformats.org/drawingml/2006/main">
            <a:off x="4705350" y="1121665"/>
            <a:ext cx="6838950" cy="4557519"/>
          </a:xfrm>
          <a:prstGeom xmlns:a="http://schemas.openxmlformats.org/drawingml/2006/main" prst="roundRect">
            <a:avLst>
              <a:gd name="adj" fmla="val 1329"/>
            </a:avLst>
          </a:prstGeom>
        </p:spPr>
      </p:pic>
      <p:sp>
        <p:nvSpPr>
          <p:cNvPr id="20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F5175C33-4C2F-47C5-B34D-33CBA06C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8877D"/>
                </a:solidFill>
              </a:defRPr>
            </a:pPr>
            <a:r>
              <a:rPr sz="750" b="0" i="0">
                <a:solidFill>
                  <a:srgbClr val="78877D"/>
                </a:solidFill>
              </a:rPr>
              <a:t>Prototype walkthrough · Specimen Casebook</a:t>
            </a:r>
          </a:p>
        </p:txBody>
      </p:sp>
      <p:sp>
        <p:nvSpPr>
          <p:cNvPr id="2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D0B8D54-9CB7-4283-9314-68B0E53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8877D"/>
                </a:solidFill>
              </a:defRPr>
            </a:pPr>
            <a:r>
              <a:rPr sz="825" b="1" i="0">
                <a:solidFill>
                  <a:srgbClr val="78877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4775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kicker">
            <a:extLst xmlns:a="http://schemas.openxmlformats.org/drawingml/2006/main">
              <a:ext uri="{FF2B5EF4-FFF2-40B4-BE49-F238E27FC236}">
                <a16:creationId xmlns:a16="http://schemas.microsoft.com/office/drawing/2014/main" id="{D7229838-7958-4BAB-990A-D3EA6F95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C850D"/>
                </a:solidFill>
              </a:defRPr>
            </a:pPr>
            <a:r>
              <a:rPr sz="1050" b="1" i="0">
                <a:solidFill>
                  <a:srgbClr val="DC850D"/>
                </a:solidFill>
              </a:rPr>
              <a:t>THE MOMENT THAT MATTERS</a:t>
            </a:r>
          </a:p>
        </p:txBody>
      </p:sp>
      <p:sp>
        <p:nvSpPr>
          <p:cNvPr id="2" name="s5-title">
            <a:extLst xmlns:a="http://schemas.openxmlformats.org/drawingml/2006/main">
              <a:ext uri="{FF2B5EF4-FFF2-40B4-BE49-F238E27FC236}">
                <a16:creationId xmlns:a16="http://schemas.microsoft.com/office/drawing/2014/main" id="{5C7B151C-0189-4767-A675-9E095AD3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85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7241D"/>
                </a:solidFill>
              </a:defRPr>
            </a:pPr>
            <a:r>
              <a:rPr sz="3525" b="1" i="0">
                <a:solidFill>
                  <a:srgbClr val="17241D"/>
                </a:solidFill>
              </a:rPr>
              <a:t>The disagreement stays visible—</a:t>
            </a:r>
          </a:p>
          <a:p xmlns:a="http://schemas.openxmlformats.org/drawingml/2006/main">
            <a:pPr algn="l">
              <a:defRPr sz="3525" b="1" i="0">
                <a:solidFill>
                  <a:srgbClr val="17241D"/>
                </a:solidFill>
              </a:defRPr>
            </a:pPr>
            <a:r>
              <a:rPr sz="3525" b="1" i="0">
                <a:solidFill>
                  <a:srgbClr val="17241D"/>
                </a:solidFill>
              </a:rPr>
              <a:t>so the mistake cannot ship.</a:t>
            </a:r>
          </a:p>
        </p:txBody>
      </p:sp>
      <p:sp>
        <p:nvSpPr>
          <p:cNvPr id="3" name="s5-card-0">
            <a:extLst xmlns:a="http://schemas.openxmlformats.org/drawingml/2006/main">
              <a:ext uri="{FF2B5EF4-FFF2-40B4-BE49-F238E27FC236}">
                <a16:creationId xmlns:a16="http://schemas.microsoft.com/office/drawing/2014/main" id="{97D2D0EC-B7FE-44AA-A786-60225A3E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048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4" name="s5-label-0">
            <a:extLst xmlns:a="http://schemas.openxmlformats.org/drawingml/2006/main">
              <a:ext uri="{FF2B5EF4-FFF2-40B4-BE49-F238E27FC236}">
                <a16:creationId xmlns:a16="http://schemas.microsoft.com/office/drawing/2014/main" id="{F5270E8D-1589-4473-8C4A-9A10072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46A"/>
                </a:solidFill>
              </a:defRPr>
            </a:pPr>
            <a:r>
              <a:rPr sz="975" b="1" i="0">
                <a:solidFill>
                  <a:srgbClr val="65746A"/>
                </a:solidFill>
              </a:rPr>
              <a:t>SPECIMEN LABEL</a:t>
            </a:r>
          </a:p>
        </p:txBody>
      </p:sp>
      <p:sp>
        <p:nvSpPr>
          <p:cNvPr id="5" name="s5-date-0">
            <a:extLst xmlns:a="http://schemas.openxmlformats.org/drawingml/2006/main">
              <a:ext uri="{FF2B5EF4-FFF2-40B4-BE49-F238E27FC236}">
                <a16:creationId xmlns:a16="http://schemas.microsoft.com/office/drawing/2014/main" id="{EA75631C-3FD5-41AF-989B-0270A3F9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7633E"/>
                </a:solidFill>
              </a:defRPr>
            </a:pPr>
            <a:r>
              <a:rPr sz="2250" b="1" i="0">
                <a:solidFill>
                  <a:srgbClr val="17633E"/>
                </a:solidFill>
              </a:rPr>
              <a:t>June 17, 1907</a:t>
            </a:r>
          </a:p>
        </p:txBody>
      </p:sp>
      <p:sp>
        <p:nvSpPr>
          <p:cNvPr id="6" name="s5-not-equal-0">
            <a:extLst xmlns:a="http://schemas.openxmlformats.org/drawingml/2006/main">
              <a:ext uri="{FF2B5EF4-FFF2-40B4-BE49-F238E27FC236}">
                <a16:creationId xmlns:a16="http://schemas.microsoft.com/office/drawing/2014/main" id="{B7509635-BCFC-45FF-AE9C-EA255BA0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DC850D"/>
                </a:solidFill>
              </a:defRPr>
            </a:pPr>
            <a:r>
              <a:rPr sz="2475" b="1" i="0">
                <a:solidFill>
                  <a:srgbClr val="DC850D"/>
                </a:solidFill>
              </a:rPr>
              <a:t>≠</a:t>
            </a:r>
          </a:p>
        </p:txBody>
      </p:sp>
      <p:sp>
        <p:nvSpPr>
          <p:cNvPr id="7" name="s5-card-1">
            <a:extLst xmlns:a="http://schemas.openxmlformats.org/drawingml/2006/main">
              <a:ext uri="{FF2B5EF4-FFF2-40B4-BE49-F238E27FC236}">
                <a16:creationId xmlns:a16="http://schemas.microsoft.com/office/drawing/2014/main" id="{790F2C56-1876-489D-86FB-3DA5DDD2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47950"/>
            <a:ext cx="3048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8" name="s5-label-1">
            <a:extLst xmlns:a="http://schemas.openxmlformats.org/drawingml/2006/main">
              <a:ext uri="{FF2B5EF4-FFF2-40B4-BE49-F238E27FC236}">
                <a16:creationId xmlns:a16="http://schemas.microsoft.com/office/drawing/2014/main" id="{0D25AC40-C8E1-4BA5-902A-7093A160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46A"/>
                </a:solidFill>
              </a:defRPr>
            </a:pPr>
            <a:r>
              <a:rPr sz="975" b="1" i="0">
                <a:solidFill>
                  <a:srgbClr val="65746A"/>
                </a:solidFill>
              </a:rPr>
              <a:t>FIELD LEDGER</a:t>
            </a:r>
          </a:p>
        </p:txBody>
      </p:sp>
      <p:sp>
        <p:nvSpPr>
          <p:cNvPr id="9" name="s5-date-1">
            <a:extLst xmlns:a="http://schemas.openxmlformats.org/drawingml/2006/main">
              <a:ext uri="{FF2B5EF4-FFF2-40B4-BE49-F238E27FC236}">
                <a16:creationId xmlns:a16="http://schemas.microsoft.com/office/drawing/2014/main" id="{C3A56F18-7D04-41B4-BD57-95F680C8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850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7633E"/>
                </a:solidFill>
              </a:defRPr>
            </a:pPr>
            <a:r>
              <a:rPr sz="2250" b="1" i="0">
                <a:solidFill>
                  <a:srgbClr val="17633E"/>
                </a:solidFill>
              </a:rPr>
              <a:t>June 19, 1907</a:t>
            </a:r>
          </a:p>
        </p:txBody>
      </p:sp>
      <p:sp>
        <p:nvSpPr>
          <p:cNvPr id="10" name="s5-not-equal-1">
            <a:extLst xmlns:a="http://schemas.openxmlformats.org/drawingml/2006/main">
              <a:ext uri="{FF2B5EF4-FFF2-40B4-BE49-F238E27FC236}">
                <a16:creationId xmlns:a16="http://schemas.microsoft.com/office/drawing/2014/main" id="{ADAAFE84-9229-4892-B1E1-B7A0E0A0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95625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DC850D"/>
                </a:solidFill>
              </a:defRPr>
            </a:pPr>
            <a:r>
              <a:rPr sz="2475" b="1" i="0">
                <a:solidFill>
                  <a:srgbClr val="DC850D"/>
                </a:solidFill>
              </a:rPr>
              <a:t>≠</a:t>
            </a:r>
          </a:p>
        </p:txBody>
      </p:sp>
      <p:sp>
        <p:nvSpPr>
          <p:cNvPr id="11" name="s5-card-2">
            <a:extLst xmlns:a="http://schemas.openxmlformats.org/drawingml/2006/main">
              <a:ext uri="{FF2B5EF4-FFF2-40B4-BE49-F238E27FC236}">
                <a16:creationId xmlns:a16="http://schemas.microsoft.com/office/drawing/2014/main" id="{A4B146C8-1BFC-4966-B999-2F244FF3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3048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0D3"/>
          </a:solidFill>
          <a:ln xmlns:a="http://schemas.openxmlformats.org/drawingml/2006/main" w="9525">
            <a:solidFill>
              <a:srgbClr val="E6B45D"/>
            </a:solidFill>
            <a:prstDash val="solid"/>
          </a:ln>
        </p:spPr>
      </p:sp>
      <p:sp>
        <p:nvSpPr>
          <p:cNvPr id="12" name="s5-label-2">
            <a:extLst xmlns:a="http://schemas.openxmlformats.org/drawingml/2006/main">
              <a:ext uri="{FF2B5EF4-FFF2-40B4-BE49-F238E27FC236}">
                <a16:creationId xmlns:a16="http://schemas.microsoft.com/office/drawing/2014/main" id="{A1F41707-9E38-458A-98F8-48E6F9F5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84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46A"/>
                </a:solidFill>
              </a:defRPr>
            </a:pPr>
            <a:r>
              <a:rPr sz="975" b="1" i="0">
                <a:solidFill>
                  <a:srgbClr val="65746A"/>
                </a:solidFill>
              </a:rPr>
              <a:t>LEGACY DATABASE</a:t>
            </a:r>
          </a:p>
        </p:txBody>
      </p:sp>
      <p:sp>
        <p:nvSpPr>
          <p:cNvPr id="13" name="s5-date-2">
            <a:extLst xmlns:a="http://schemas.openxmlformats.org/drawingml/2006/main">
              <a:ext uri="{FF2B5EF4-FFF2-40B4-BE49-F238E27FC236}">
                <a16:creationId xmlns:a16="http://schemas.microsoft.com/office/drawing/2014/main" id="{04E29B6C-ED09-44B9-A51F-2A323E7B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C850D"/>
                </a:solidFill>
              </a:defRPr>
            </a:pPr>
            <a:r>
              <a:rPr sz="2250" b="1" i="0">
                <a:solidFill>
                  <a:srgbClr val="DC850D"/>
                </a:solidFill>
              </a:rPr>
              <a:t>June 17, 1909</a:t>
            </a:r>
          </a:p>
        </p:txBody>
      </p:sp>
      <p:sp>
        <p:nvSpPr>
          <p:cNvPr id="14" name="s5-action">
            <a:extLst xmlns:a="http://schemas.openxmlformats.org/drawingml/2006/main">
              <a:ext uri="{FF2B5EF4-FFF2-40B4-BE49-F238E27FC236}">
                <a16:creationId xmlns:a16="http://schemas.microsoft.com/office/drawing/2014/main" id="{335DAACE-F4E1-470D-BF07-11995EF9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9906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5-action-label">
            <a:extLst xmlns:a="http://schemas.openxmlformats.org/drawingml/2006/main">
              <a:ext uri="{FF2B5EF4-FFF2-40B4-BE49-F238E27FC236}">
                <a16:creationId xmlns:a16="http://schemas.microsoft.com/office/drawing/2014/main" id="{8836579E-3805-4848-865A-B4C44AFB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FD5C8"/>
                </a:solidFill>
              </a:defRPr>
            </a:pPr>
            <a:r>
              <a:rPr sz="975" b="1" i="0">
                <a:solidFill>
                  <a:srgbClr val="BFD5C8"/>
                </a:solidFill>
              </a:rPr>
              <a:t>RECOMMENDED ACTION</a:t>
            </a:r>
          </a:p>
        </p:txBody>
      </p:sp>
      <p:sp>
        <p:nvSpPr>
          <p:cNvPr id="16" name="s5-action-copy">
            <a:extLst xmlns:a="http://schemas.openxmlformats.org/drawingml/2006/main">
              <a:ext uri="{FF2B5EF4-FFF2-40B4-BE49-F238E27FC236}">
                <a16:creationId xmlns:a16="http://schemas.microsoft.com/office/drawing/2014/main" id="{880C3166-944B-4342-BDE3-7955295C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7F3E8"/>
                </a:solidFill>
              </a:defRPr>
            </a:pPr>
            <a:r>
              <a:rPr sz="2325" b="1" i="0">
                <a:solidFill>
                  <a:srgbClr val="F7F3E8"/>
                </a:solidFill>
              </a:rPr>
              <a:t>Do not publish without human review.</a:t>
            </a:r>
          </a:p>
        </p:txBody>
      </p:sp>
      <p:sp>
        <p:nvSpPr>
          <p:cNvPr id="17" name="s5-status">
            <a:extLst xmlns:a="http://schemas.openxmlformats.org/drawingml/2006/main">
              <a:ext uri="{FF2B5EF4-FFF2-40B4-BE49-F238E27FC236}">
                <a16:creationId xmlns:a16="http://schemas.microsoft.com/office/drawing/2014/main" id="{E8456B2B-13CE-4D2F-80EB-21106318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0292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D184"/>
                </a:solidFill>
              </a:defRPr>
            </a:pPr>
            <a:r>
              <a:rPr sz="1275" b="1" i="0">
                <a:solidFill>
                  <a:srgbClr val="FFD184"/>
                </a:solidFill>
              </a:rPr>
              <a:t>CONFLICTING</a:t>
            </a:r>
          </a:p>
        </p:txBody>
      </p:sp>
      <p:sp>
        <p:nvSpPr>
          <p:cNvPr id="18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E9AA0DCC-1062-461E-844D-A5ED8EF5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8877D"/>
                </a:solidFill>
              </a:defRPr>
            </a:pPr>
            <a:r>
              <a:rPr sz="750" b="0" i="0">
                <a:solidFill>
                  <a:srgbClr val="78877D"/>
                </a:solidFill>
              </a:rPr>
              <a:t>Without Specimen Casebook, 1909 could be published as fact.</a:t>
            </a:r>
          </a:p>
        </p:txBody>
      </p:sp>
      <p:sp>
        <p:nvSpPr>
          <p:cNvPr id="19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4AFDFA8A-9766-4B15-B88B-1CF41E2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8877D"/>
                </a:solidFill>
              </a:defRPr>
            </a:pPr>
            <a:r>
              <a:rPr sz="825" b="1" i="0">
                <a:solidFill>
                  <a:srgbClr val="78877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7654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3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kicker">
            <a:extLst xmlns:a="http://schemas.openxmlformats.org/drawingml/2006/main">
              <a:ext uri="{FF2B5EF4-FFF2-40B4-BE49-F238E27FC236}">
                <a16:creationId xmlns:a16="http://schemas.microsoft.com/office/drawing/2014/main" id="{65FA92BB-DE2C-412E-B57B-432D23DB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FD5C8"/>
                </a:solidFill>
              </a:defRPr>
            </a:pPr>
            <a:r>
              <a:rPr sz="1050" b="1" i="0">
                <a:solidFill>
                  <a:srgbClr val="BFD5C8"/>
                </a:solidFill>
              </a:rPr>
              <a:t>HOW CLAUDE IS USED</a:t>
            </a:r>
          </a:p>
        </p:txBody>
      </p:sp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C893EE8F-AA19-4567-84C0-10352C33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7F3E8"/>
                </a:solidFill>
              </a:defRPr>
            </a:pPr>
            <a:r>
              <a:rPr sz="3375" b="1" i="0">
                <a:solidFill>
                  <a:srgbClr val="F7F3E8"/>
                </a:solidFill>
              </a:rPr>
              <a:t>Claude proposes.</a:t>
            </a:r>
          </a:p>
          <a:p xmlns:a="http://schemas.openxmlformats.org/drawingml/2006/main">
            <a:pPr algn="l">
              <a:defRPr sz="3375" b="1" i="0">
                <a:solidFill>
                  <a:srgbClr val="F7F3E8"/>
                </a:solidFill>
              </a:defRPr>
            </a:pPr>
            <a:r>
              <a:rPr sz="3375" b="1" i="0">
                <a:solidFill>
                  <a:srgbClr val="F7F3E8"/>
                </a:solidFill>
              </a:rPr>
              <a:t>The policy layer decides what can ship.</a:t>
            </a:r>
          </a:p>
        </p:txBody>
      </p:sp>
      <p:sp>
        <p:nvSpPr>
          <p:cNvPr id="3" name="s6-flow-0">
            <a:extLst xmlns:a="http://schemas.openxmlformats.org/drawingml/2006/main">
              <a:ext uri="{FF2B5EF4-FFF2-40B4-BE49-F238E27FC236}">
                <a16:creationId xmlns:a16="http://schemas.microsoft.com/office/drawing/2014/main" id="{9069DFEE-AA0D-4D44-8C10-7F700CE7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9240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4" name="s6-flow-title-0">
            <a:extLst xmlns:a="http://schemas.openxmlformats.org/drawingml/2006/main">
              <a:ext uri="{FF2B5EF4-FFF2-40B4-BE49-F238E27FC236}">
                <a16:creationId xmlns:a16="http://schemas.microsoft.com/office/drawing/2014/main" id="{97B58DEB-20E6-4657-8CB7-2D087CAB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FD5C8"/>
                </a:solidFill>
              </a:defRPr>
            </a:pPr>
            <a:r>
              <a:rPr sz="975" b="1" i="0">
                <a:solidFill>
                  <a:srgbClr val="BFD5C8"/>
                </a:solidFill>
              </a:rPr>
              <a:t>SOURCE INGEST</a:t>
            </a:r>
          </a:p>
        </p:txBody>
      </p:sp>
      <p:sp>
        <p:nvSpPr>
          <p:cNvPr id="5" name="s6-flow-body-0">
            <a:extLst xmlns:a="http://schemas.openxmlformats.org/drawingml/2006/main">
              <a:ext uri="{FF2B5EF4-FFF2-40B4-BE49-F238E27FC236}">
                <a16:creationId xmlns:a16="http://schemas.microsoft.com/office/drawing/2014/main" id="{8B5EDE60-8A98-4335-9762-62002B43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7F3E8"/>
                </a:solidFill>
              </a:defRPr>
            </a:pPr>
            <a:r>
              <a:rPr sz="1500" b="0" i="0">
                <a:solidFill>
                  <a:srgbClr val="F7F3E8"/>
                </a:solidFill>
              </a:rPr>
              <a:t>Label · ledger</a:t>
            </a:r>
          </a:p>
          <a:p xmlns:a="http://schemas.openxmlformats.org/drawingml/2006/main">
            <a:pPr algn="ctr">
              <a:defRPr sz="1500" b="0" i="0">
                <a:solidFill>
                  <a:srgbClr val="F7F3E8"/>
                </a:solidFill>
              </a:defRPr>
            </a:pPr>
            <a:r>
              <a:rPr sz="1500" b="0" i="0">
                <a:solidFill>
                  <a:srgbClr val="F7F3E8"/>
                </a:solidFill>
              </a:rPr>
              <a:t>JSON · CSV</a:t>
            </a:r>
          </a:p>
        </p:txBody>
      </p:sp>
      <p:sp>
        <p:nvSpPr>
          <p:cNvPr id="6" name="s6-arrow-0">
            <a:extLst xmlns:a="http://schemas.openxmlformats.org/drawingml/2006/main">
              <a:ext uri="{FF2B5EF4-FFF2-40B4-BE49-F238E27FC236}">
                <a16:creationId xmlns:a16="http://schemas.microsoft.com/office/drawing/2014/main" id="{21950919-48C8-44DD-80C5-2FC65353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480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DC850D"/>
                </a:solidFill>
              </a:defRPr>
            </a:pPr>
            <a:r>
              <a:rPr sz="2025" b="0" i="0">
                <a:solidFill>
                  <a:srgbClr val="DC850D"/>
                </a:solidFill>
              </a:rPr>
              <a:t>→</a:t>
            </a:r>
          </a:p>
        </p:txBody>
      </p:sp>
      <p:sp>
        <p:nvSpPr>
          <p:cNvPr id="7" name="s6-flow-1">
            <a:extLst xmlns:a="http://schemas.openxmlformats.org/drawingml/2006/main">
              <a:ext uri="{FF2B5EF4-FFF2-40B4-BE49-F238E27FC236}">
                <a16:creationId xmlns:a16="http://schemas.microsoft.com/office/drawing/2014/main" id="{539226E4-18A5-47DC-AA14-8C253110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9240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9525">
            <a:solidFill>
              <a:srgbClr val="F1DFC0"/>
            </a:solidFill>
            <a:prstDash val="solid"/>
          </a:ln>
        </p:spPr>
      </p:sp>
      <p:sp>
        <p:nvSpPr>
          <p:cNvPr id="8" name="s6-flow-title-1">
            <a:extLst xmlns:a="http://schemas.openxmlformats.org/drawingml/2006/main">
              <a:ext uri="{FF2B5EF4-FFF2-40B4-BE49-F238E27FC236}">
                <a16:creationId xmlns:a16="http://schemas.microsoft.com/office/drawing/2014/main" id="{D816F14A-A189-489D-B5BD-5B34DC41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86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633E"/>
                </a:solidFill>
              </a:defRPr>
            </a:pPr>
            <a:r>
              <a:rPr sz="975" b="1" i="0">
                <a:solidFill>
                  <a:srgbClr val="17633E"/>
                </a:solidFill>
              </a:rPr>
              <a:t>CLAUDE</a:t>
            </a:r>
          </a:p>
        </p:txBody>
      </p:sp>
      <p:sp>
        <p:nvSpPr>
          <p:cNvPr id="9" name="s6-flow-body-1">
            <a:extLst xmlns:a="http://schemas.openxmlformats.org/drawingml/2006/main">
              <a:ext uri="{FF2B5EF4-FFF2-40B4-BE49-F238E27FC236}">
                <a16:creationId xmlns:a16="http://schemas.microsoft.com/office/drawing/2014/main" id="{2F104733-2E6F-4E1C-A83E-505991A6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41D"/>
                </a:solidFill>
              </a:defRPr>
            </a:pPr>
            <a:r>
              <a:rPr sz="1500" b="1" i="0">
                <a:solidFill>
                  <a:srgbClr val="17241D"/>
                </a:solidFill>
              </a:rPr>
              <a:t>Extract field-level</a:t>
            </a:r>
          </a:p>
          <a:p xmlns:a="http://schemas.openxmlformats.org/drawingml/2006/main">
            <a:pPr algn="ctr">
              <a:defRPr sz="1500" b="1" i="0">
                <a:solidFill>
                  <a:srgbClr val="17241D"/>
                </a:solidFill>
              </a:defRPr>
            </a:pPr>
            <a:r>
              <a:rPr sz="1500" b="1" i="0">
                <a:solidFill>
                  <a:srgbClr val="17241D"/>
                </a:solidFill>
              </a:rPr>
              <a:t>claims + citations</a:t>
            </a:r>
          </a:p>
        </p:txBody>
      </p:sp>
      <p:sp>
        <p:nvSpPr>
          <p:cNvPr id="10" name="s6-arrow-1">
            <a:extLst xmlns:a="http://schemas.openxmlformats.org/drawingml/2006/main">
              <a:ext uri="{FF2B5EF4-FFF2-40B4-BE49-F238E27FC236}">
                <a16:creationId xmlns:a16="http://schemas.microsoft.com/office/drawing/2014/main" id="{98AD3DD9-DDBF-471C-A5D3-DE85490F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480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DC850D"/>
                </a:solidFill>
              </a:defRPr>
            </a:pPr>
            <a:r>
              <a:rPr sz="2025" b="0" i="0">
                <a:solidFill>
                  <a:srgbClr val="DC850D"/>
                </a:solidFill>
              </a:rPr>
              <a:t>→</a:t>
            </a:r>
          </a:p>
        </p:txBody>
      </p:sp>
      <p:sp>
        <p:nvSpPr>
          <p:cNvPr id="11" name="s6-flow-2">
            <a:extLst xmlns:a="http://schemas.openxmlformats.org/drawingml/2006/main">
              <a:ext uri="{FF2B5EF4-FFF2-40B4-BE49-F238E27FC236}">
                <a16:creationId xmlns:a16="http://schemas.microsoft.com/office/drawing/2014/main" id="{5B9A43D3-E15D-4432-AC14-FA2FFA7C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9240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12" name="s6-flow-title-2">
            <a:extLst xmlns:a="http://schemas.openxmlformats.org/drawingml/2006/main">
              <a:ext uri="{FF2B5EF4-FFF2-40B4-BE49-F238E27FC236}">
                <a16:creationId xmlns:a16="http://schemas.microsoft.com/office/drawing/2014/main" id="{788DE426-E5DD-4BE6-9D8D-2FF17B21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FD5C8"/>
                </a:solidFill>
              </a:defRPr>
            </a:pPr>
            <a:r>
              <a:rPr sz="975" b="1" i="0">
                <a:solidFill>
                  <a:srgbClr val="BFD5C8"/>
                </a:solidFill>
              </a:rPr>
              <a:t>RECONCILIATION</a:t>
            </a:r>
          </a:p>
        </p:txBody>
      </p:sp>
      <p:sp>
        <p:nvSpPr>
          <p:cNvPr id="13" name="s6-flow-body-2">
            <a:extLst xmlns:a="http://schemas.openxmlformats.org/drawingml/2006/main">
              <a:ext uri="{FF2B5EF4-FFF2-40B4-BE49-F238E27FC236}">
                <a16:creationId xmlns:a16="http://schemas.microsoft.com/office/drawing/2014/main" id="{80C88C8E-6664-4828-B5D3-DF934C77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7F3E8"/>
                </a:solidFill>
              </a:defRPr>
            </a:pPr>
            <a:r>
              <a:rPr sz="1500" b="0" i="0">
                <a:solidFill>
                  <a:srgbClr val="F7F3E8"/>
                </a:solidFill>
              </a:rPr>
              <a:t>Compare values</a:t>
            </a:r>
          </a:p>
          <a:p xmlns:a="http://schemas.openxmlformats.org/drawingml/2006/main">
            <a:pPr algn="ctr">
              <a:defRPr sz="1500" b="0" i="0">
                <a:solidFill>
                  <a:srgbClr val="F7F3E8"/>
                </a:solidFill>
              </a:defRPr>
            </a:pPr>
            <a:r>
              <a:rPr sz="1500" b="0" i="0">
                <a:solidFill>
                  <a:srgbClr val="F7F3E8"/>
                </a:solidFill>
              </a:rPr>
              <a:t>and preserve conflicts</a:t>
            </a:r>
          </a:p>
        </p:txBody>
      </p:sp>
      <p:sp>
        <p:nvSpPr>
          <p:cNvPr id="14" name="s6-arrow-2">
            <a:extLst xmlns:a="http://schemas.openxmlformats.org/drawingml/2006/main">
              <a:ext uri="{FF2B5EF4-FFF2-40B4-BE49-F238E27FC236}">
                <a16:creationId xmlns:a16="http://schemas.microsoft.com/office/drawing/2014/main" id="{155C846D-4573-45B2-AF12-AF5ADD5D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DC850D"/>
                </a:solidFill>
              </a:defRPr>
            </a:pPr>
            <a:r>
              <a:rPr sz="2025" b="0" i="0">
                <a:solidFill>
                  <a:srgbClr val="DC850D"/>
                </a:solidFill>
              </a:rPr>
              <a:t>→</a:t>
            </a:r>
          </a:p>
        </p:txBody>
      </p:sp>
      <p:sp>
        <p:nvSpPr>
          <p:cNvPr id="15" name="s6-flow-3">
            <a:extLst xmlns:a="http://schemas.openxmlformats.org/drawingml/2006/main">
              <a:ext uri="{FF2B5EF4-FFF2-40B4-BE49-F238E27FC236}">
                <a16:creationId xmlns:a16="http://schemas.microsoft.com/office/drawing/2014/main" id="{D806554A-4DB4-434B-A5D9-E2DFA35E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19240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16" name="s6-flow-title-3">
            <a:extLst xmlns:a="http://schemas.openxmlformats.org/drawingml/2006/main">
              <a:ext uri="{FF2B5EF4-FFF2-40B4-BE49-F238E27FC236}">
                <a16:creationId xmlns:a16="http://schemas.microsoft.com/office/drawing/2014/main" id="{39F67DFB-9048-48A4-8C1E-8FE36019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FD5C8"/>
                </a:solidFill>
              </a:defRPr>
            </a:pPr>
            <a:r>
              <a:rPr sz="975" b="1" i="0">
                <a:solidFill>
                  <a:srgbClr val="BFD5C8"/>
                </a:solidFill>
              </a:rPr>
              <a:t>HUMAN REVIEW</a:t>
            </a:r>
          </a:p>
        </p:txBody>
      </p:sp>
      <p:sp>
        <p:nvSpPr>
          <p:cNvPr id="17" name="s6-flow-body-3">
            <a:extLst xmlns:a="http://schemas.openxmlformats.org/drawingml/2006/main">
              <a:ext uri="{FF2B5EF4-FFF2-40B4-BE49-F238E27FC236}">
                <a16:creationId xmlns:a16="http://schemas.microsoft.com/office/drawing/2014/main" id="{193B1083-67CB-4BE4-9FA1-9357D36C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7F3E8"/>
                </a:solidFill>
              </a:defRPr>
            </a:pPr>
            <a:r>
              <a:rPr sz="1500" b="0" i="0">
                <a:solidFill>
                  <a:srgbClr val="F7F3E8"/>
                </a:solidFill>
              </a:rPr>
              <a:t>Resolve only with</a:t>
            </a:r>
          </a:p>
          <a:p xmlns:a="http://schemas.openxmlformats.org/drawingml/2006/main">
            <a:pPr algn="ctr">
              <a:defRPr sz="1500" b="0" i="0">
                <a:solidFill>
                  <a:srgbClr val="F7F3E8"/>
                </a:solidFill>
              </a:defRPr>
            </a:pPr>
            <a:r>
              <a:rPr sz="1500" b="0" i="0">
                <a:solidFill>
                  <a:srgbClr val="F7F3E8"/>
                </a:solidFill>
              </a:rPr>
              <a:t>visible evidence</a:t>
            </a:r>
          </a:p>
        </p:txBody>
      </p:sp>
      <p:sp>
        <p:nvSpPr>
          <p:cNvPr id="18" name="s6-arrow-3">
            <a:extLst xmlns:a="http://schemas.openxmlformats.org/drawingml/2006/main">
              <a:ext uri="{FF2B5EF4-FFF2-40B4-BE49-F238E27FC236}">
                <a16:creationId xmlns:a16="http://schemas.microsoft.com/office/drawing/2014/main" id="{8381D219-E568-4DF3-95F6-881967BA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480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DC850D"/>
                </a:solidFill>
              </a:defRPr>
            </a:pPr>
            <a:r>
              <a:rPr sz="2025" b="0" i="0">
                <a:solidFill>
                  <a:srgbClr val="DC850D"/>
                </a:solidFill>
              </a:rPr>
              <a:t>→</a:t>
            </a:r>
          </a:p>
        </p:txBody>
      </p:sp>
      <p:sp>
        <p:nvSpPr>
          <p:cNvPr id="19" name="s6-flow-4">
            <a:extLst xmlns:a="http://schemas.openxmlformats.org/drawingml/2006/main">
              <a:ext uri="{FF2B5EF4-FFF2-40B4-BE49-F238E27FC236}">
                <a16:creationId xmlns:a16="http://schemas.microsoft.com/office/drawing/2014/main" id="{B2D83D09-DB5C-492F-8B91-17537E2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57500"/>
            <a:ext cx="19240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20" name="s6-flow-title-4">
            <a:extLst xmlns:a="http://schemas.openxmlformats.org/drawingml/2006/main">
              <a:ext uri="{FF2B5EF4-FFF2-40B4-BE49-F238E27FC236}">
                <a16:creationId xmlns:a16="http://schemas.microsoft.com/office/drawing/2014/main" id="{DBA37A57-EC50-4CA3-8A14-DD34FDF0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86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FD5C8"/>
                </a:solidFill>
              </a:defRPr>
            </a:pPr>
            <a:r>
              <a:rPr sz="975" b="1" i="0">
                <a:solidFill>
                  <a:srgbClr val="BFD5C8"/>
                </a:solidFill>
              </a:rPr>
              <a:t>DARWIN CORE</a:t>
            </a:r>
          </a:p>
        </p:txBody>
      </p:sp>
      <p:sp>
        <p:nvSpPr>
          <p:cNvPr id="21" name="s6-flow-body-4">
            <a:extLst xmlns:a="http://schemas.openxmlformats.org/drawingml/2006/main">
              <a:ext uri="{FF2B5EF4-FFF2-40B4-BE49-F238E27FC236}">
                <a16:creationId xmlns:a16="http://schemas.microsoft.com/office/drawing/2014/main" id="{BE31917E-C3E6-4C8A-A217-4BF403E5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2425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7F3E8"/>
                </a:solidFill>
              </a:defRPr>
            </a:pPr>
            <a:r>
              <a:rPr sz="1500" b="0" i="0">
                <a:solidFill>
                  <a:srgbClr val="F7F3E8"/>
                </a:solidFill>
              </a:rPr>
              <a:t>Publish with</a:t>
            </a:r>
          </a:p>
          <a:p xmlns:a="http://schemas.openxmlformats.org/drawingml/2006/main">
            <a:pPr algn="ctr">
              <a:defRPr sz="1500" b="0" i="0">
                <a:solidFill>
                  <a:srgbClr val="F7F3E8"/>
                </a:solidFill>
              </a:defRPr>
            </a:pPr>
            <a:r>
              <a:rPr sz="1500" b="0" i="0">
                <a:solidFill>
                  <a:srgbClr val="F7F3E8"/>
                </a:solidFill>
              </a:rPr>
              <a:t>provenance attached</a:t>
            </a:r>
          </a:p>
        </p:txBody>
      </p:sp>
      <p:sp>
        <p:nvSpPr>
          <p:cNvPr id="22" name="s6-bottom">
            <a:extLst xmlns:a="http://schemas.openxmlformats.org/drawingml/2006/main">
              <a:ext uri="{FF2B5EF4-FFF2-40B4-BE49-F238E27FC236}">
                <a16:creationId xmlns:a16="http://schemas.microsoft.com/office/drawing/2014/main" id="{ABDE35F7-C4C5-4D68-B119-05093EB3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D6E4DB"/>
                </a:solidFill>
              </a:defRPr>
            </a:pPr>
            <a:r>
              <a:rPr sz="1800" b="0" i="0">
                <a:solidFill>
                  <a:srgbClr val="D6E4DB"/>
                </a:solidFill>
              </a:rPr>
              <a:t>Every exported value remains traceable to the source that supports it.</a:t>
            </a:r>
          </a:p>
        </p:txBody>
      </p:sp>
      <p:sp>
        <p:nvSpPr>
          <p:cNvPr id="23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5AA002AA-0D84-4FB7-A101-437B6344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8877D"/>
                </a:solidFill>
              </a:defRPr>
            </a:pPr>
            <a:r>
              <a:rPr sz="750" b="0" i="0">
                <a:solidFill>
                  <a:srgbClr val="78877D"/>
                </a:solidFill>
              </a:rPr>
              <a:t>Output target: Darwin Core Archive with field-level provenance</a:t>
            </a:r>
          </a:p>
        </p:txBody>
      </p:sp>
      <p:sp>
        <p:nvSpPr>
          <p:cNvPr id="24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19FDBD4-752F-4511-8DF2-2B50EDB5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8877D"/>
                </a:solidFill>
              </a:defRPr>
            </a:pPr>
            <a:r>
              <a:rPr sz="825" b="1" i="0">
                <a:solidFill>
                  <a:srgbClr val="78877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2169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kicker">
            <a:extLst xmlns:a="http://schemas.openxmlformats.org/drawingml/2006/main">
              <a:ext uri="{FF2B5EF4-FFF2-40B4-BE49-F238E27FC236}">
                <a16:creationId xmlns:a16="http://schemas.microsoft.com/office/drawing/2014/main" id="{C419CE98-1FAF-4252-AE25-D9B0085B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33E"/>
                </a:solidFill>
              </a:defRPr>
            </a:pPr>
            <a:r>
              <a:rPr sz="1050" b="1" i="0">
                <a:solidFill>
                  <a:srgbClr val="17633E"/>
                </a:solidFill>
              </a:rPr>
              <a:t>EVALUATING SAFE AI</a:t>
            </a:r>
          </a:p>
        </p:txBody>
      </p:sp>
      <p:sp>
        <p:nvSpPr>
          <p:cNvPr id="2" name="s7-title">
            <a:extLst xmlns:a="http://schemas.openxmlformats.org/drawingml/2006/main">
              <a:ext uri="{FF2B5EF4-FFF2-40B4-BE49-F238E27FC236}">
                <a16:creationId xmlns:a16="http://schemas.microsoft.com/office/drawing/2014/main" id="{6367ADF5-227C-4C58-8F9C-4FBDA7A6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7241D"/>
                </a:solidFill>
              </a:defRPr>
            </a:pPr>
            <a:r>
              <a:rPr sz="3675" b="1" i="0">
                <a:solidFill>
                  <a:srgbClr val="17241D"/>
                </a:solidFill>
              </a:rPr>
              <a:t>We measure restraint,</a:t>
            </a:r>
          </a:p>
          <a:p xmlns:a="http://schemas.openxmlformats.org/drawingml/2006/main">
            <a:pPr algn="l">
              <a:defRPr sz="3675" b="1" i="0">
                <a:solidFill>
                  <a:srgbClr val="17241D"/>
                </a:solidFill>
              </a:defRPr>
            </a:pPr>
            <a:r>
              <a:rPr sz="3675" b="1" i="0">
                <a:solidFill>
                  <a:srgbClr val="17241D"/>
                </a:solidFill>
              </a:rPr>
              <a:t>not just extraction.</a:t>
            </a:r>
          </a:p>
        </p:txBody>
      </p:sp>
      <p:sp>
        <p:nvSpPr>
          <p:cNvPr id="3" name="s7-hero-metric">
            <a:extLst xmlns:a="http://schemas.openxmlformats.org/drawingml/2006/main">
              <a:ext uri="{FF2B5EF4-FFF2-40B4-BE49-F238E27FC236}">
                <a16:creationId xmlns:a16="http://schemas.microsoft.com/office/drawing/2014/main" id="{8602A0F8-838B-4E53-A0EB-2E0280D3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"/>
            <a:ext cx="426720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0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7-metric-value">
            <a:extLst xmlns:a="http://schemas.openxmlformats.org/drawingml/2006/main">
              <a:ext uri="{FF2B5EF4-FFF2-40B4-BE49-F238E27FC236}">
                <a16:creationId xmlns:a16="http://schemas.microsoft.com/office/drawing/2014/main" id="{3456DCB7-7868-4FFB-8F07-F707D10B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33450"/>
            <a:ext cx="3543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850" b="1" i="0">
                <a:solidFill>
                  <a:srgbClr val="FFD184"/>
                </a:solidFill>
              </a:defRPr>
            </a:pPr>
            <a:r>
              <a:rPr sz="5850" b="1" i="0">
                <a:solidFill>
                  <a:srgbClr val="FFD184"/>
                </a:solidFill>
              </a:rPr>
              <a:t>0%</a:t>
            </a:r>
          </a:p>
        </p:txBody>
      </p:sp>
      <p:sp>
        <p:nvSpPr>
          <p:cNvPr id="5" name="s7-metric-label">
            <a:extLst xmlns:a="http://schemas.openxmlformats.org/drawingml/2006/main">
              <a:ext uri="{FF2B5EF4-FFF2-40B4-BE49-F238E27FC236}">
                <a16:creationId xmlns:a16="http://schemas.microsoft.com/office/drawing/2014/main" id="{F44B6F63-E796-432B-990A-94CA2B06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0500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7F3E8"/>
                </a:solidFill>
              </a:defRPr>
            </a:pPr>
            <a:r>
              <a:rPr sz="1125" b="1" i="0">
                <a:solidFill>
                  <a:srgbClr val="F7F3E8"/>
                </a:solidFill>
              </a:rPr>
              <a:t>UNSUPPORTED RESOLUTION RATE</a:t>
            </a:r>
          </a:p>
        </p:txBody>
      </p:sp>
      <p:sp>
        <p:nvSpPr>
          <p:cNvPr id="6" name="s7-metric-desc">
            <a:extLst xmlns:a="http://schemas.openxmlformats.org/drawingml/2006/main">
              <a:ext uri="{FF2B5EF4-FFF2-40B4-BE49-F238E27FC236}">
                <a16:creationId xmlns:a16="http://schemas.microsoft.com/office/drawing/2014/main" id="{75E0170E-E637-4923-9A77-D0DD2669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D6E4DB"/>
                </a:solidFill>
              </a:defRPr>
            </a:pPr>
            <a:r>
              <a:rPr sz="1275" b="0" i="0">
                <a:solidFill>
                  <a:srgbClr val="D6E4DB"/>
                </a:solidFill>
              </a:rPr>
              <a:t>No conflict becomes one answer</a:t>
            </a:r>
          </a:p>
          <a:p xmlns:a="http://schemas.openxmlformats.org/drawingml/2006/main">
            <a:pPr algn="ctr">
              <a:defRPr sz="1275" b="0" i="0">
                <a:solidFill>
                  <a:srgbClr val="D6E4DB"/>
                </a:solidFill>
              </a:defRPr>
            </a:pPr>
            <a:r>
              <a:rPr sz="1275" b="0" i="0">
                <a:solidFill>
                  <a:srgbClr val="D6E4DB"/>
                </a:solidFill>
              </a:rPr>
              <a:t>without supporting evidence.</a:t>
            </a:r>
          </a:p>
        </p:txBody>
      </p:sp>
      <p:sp>
        <p:nvSpPr>
          <p:cNvPr id="7" name="s7-m-0">
            <a:extLst xmlns:a="http://schemas.openxmlformats.org/drawingml/2006/main">
              <a:ext uri="{FF2B5EF4-FFF2-40B4-BE49-F238E27FC236}">
                <a16:creationId xmlns:a16="http://schemas.microsoft.com/office/drawing/2014/main" id="{FCA61998-5759-4C4B-BA3C-86F6B1B6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124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8" name="s7-m-title-0">
            <a:extLst xmlns:a="http://schemas.openxmlformats.org/drawingml/2006/main">
              <a:ext uri="{FF2B5EF4-FFF2-40B4-BE49-F238E27FC236}">
                <a16:creationId xmlns:a16="http://schemas.microsoft.com/office/drawing/2014/main" id="{37B3CED3-D7A1-413B-982B-48E237CA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33E"/>
                </a:solidFill>
              </a:defRPr>
            </a:pPr>
            <a:r>
              <a:rPr sz="1500" b="1" i="0">
                <a:solidFill>
                  <a:srgbClr val="17633E"/>
                </a:solidFill>
              </a:rPr>
              <a:t>Conflict detection</a:t>
            </a:r>
          </a:p>
        </p:txBody>
      </p:sp>
      <p:sp>
        <p:nvSpPr>
          <p:cNvPr id="9" name="s7-m-body-0">
            <a:extLst xmlns:a="http://schemas.openxmlformats.org/drawingml/2006/main">
              <a:ext uri="{FF2B5EF4-FFF2-40B4-BE49-F238E27FC236}">
                <a16:creationId xmlns:a16="http://schemas.microsoft.com/office/drawing/2014/main" id="{96BF6C08-84C0-462F-A514-2DE86D4C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6A"/>
                </a:solidFill>
              </a:defRPr>
            </a:pPr>
            <a:r>
              <a:rPr sz="1200" b="0" i="0">
                <a:solidFill>
                  <a:srgbClr val="65746A"/>
                </a:solidFill>
              </a:rPr>
              <a:t>Did we find the disagreement?</a:t>
            </a:r>
          </a:p>
        </p:txBody>
      </p:sp>
      <p:sp>
        <p:nvSpPr>
          <p:cNvPr id="10" name="s7-m-1">
            <a:extLst xmlns:a="http://schemas.openxmlformats.org/drawingml/2006/main">
              <a:ext uri="{FF2B5EF4-FFF2-40B4-BE49-F238E27FC236}">
                <a16:creationId xmlns:a16="http://schemas.microsoft.com/office/drawing/2014/main" id="{C100BE0C-6623-4C06-94BA-6418A908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14650"/>
            <a:ext cx="3124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1" name="s7-m-title-1">
            <a:extLst xmlns:a="http://schemas.openxmlformats.org/drawingml/2006/main">
              <a:ext uri="{FF2B5EF4-FFF2-40B4-BE49-F238E27FC236}">
                <a16:creationId xmlns:a16="http://schemas.microsoft.com/office/drawing/2014/main" id="{40F9BBAE-2511-4E3C-8633-F37B2463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765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33E"/>
                </a:solidFill>
              </a:defRPr>
            </a:pPr>
            <a:r>
              <a:rPr sz="1500" b="1" i="0">
                <a:solidFill>
                  <a:srgbClr val="17633E"/>
                </a:solidFill>
              </a:rPr>
              <a:t>Field-source accuracy</a:t>
            </a:r>
          </a:p>
        </p:txBody>
      </p:sp>
      <p:sp>
        <p:nvSpPr>
          <p:cNvPr id="12" name="s7-m-body-1">
            <a:extLst xmlns:a="http://schemas.openxmlformats.org/drawingml/2006/main">
              <a:ext uri="{FF2B5EF4-FFF2-40B4-BE49-F238E27FC236}">
                <a16:creationId xmlns:a16="http://schemas.microsoft.com/office/drawing/2014/main" id="{B0CECD3F-BED5-4516-B6FD-98C37927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099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6A"/>
                </a:solidFill>
              </a:defRPr>
            </a:pPr>
            <a:r>
              <a:rPr sz="1200" b="0" i="0">
                <a:solidFill>
                  <a:srgbClr val="65746A"/>
                </a:solidFill>
              </a:rPr>
              <a:t>Can every value point to evidence?</a:t>
            </a:r>
          </a:p>
        </p:txBody>
      </p:sp>
      <p:sp>
        <p:nvSpPr>
          <p:cNvPr id="13" name="s7-m-2">
            <a:extLst xmlns:a="http://schemas.openxmlformats.org/drawingml/2006/main">
              <a:ext uri="{FF2B5EF4-FFF2-40B4-BE49-F238E27FC236}">
                <a16:creationId xmlns:a16="http://schemas.microsoft.com/office/drawing/2014/main" id="{53411153-355C-4851-B6A2-C2AA4DD6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124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4" name="s7-m-title-2">
            <a:extLst xmlns:a="http://schemas.openxmlformats.org/drawingml/2006/main">
              <a:ext uri="{FF2B5EF4-FFF2-40B4-BE49-F238E27FC236}">
                <a16:creationId xmlns:a16="http://schemas.microsoft.com/office/drawing/2014/main" id="{7FE49D9B-AC42-48BC-9FFD-2E5F2C36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33E"/>
                </a:solidFill>
              </a:defRPr>
            </a:pPr>
            <a:r>
              <a:rPr sz="1500" b="1" i="0">
                <a:solidFill>
                  <a:srgbClr val="17633E"/>
                </a:solidFill>
              </a:rPr>
              <a:t>Review triage</a:t>
            </a:r>
          </a:p>
        </p:txBody>
      </p:sp>
      <p:sp>
        <p:nvSpPr>
          <p:cNvPr id="15" name="s7-m-body-2">
            <a:extLst xmlns:a="http://schemas.openxmlformats.org/drawingml/2006/main">
              <a:ext uri="{FF2B5EF4-FFF2-40B4-BE49-F238E27FC236}">
                <a16:creationId xmlns:a16="http://schemas.microsoft.com/office/drawing/2014/main" id="{93221C17-6784-45F5-9FAE-458E59CA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6A"/>
                </a:solidFill>
              </a:defRPr>
            </a:pPr>
            <a:r>
              <a:rPr sz="1200" b="0" i="0">
                <a:solidFill>
                  <a:srgbClr val="65746A"/>
                </a:solidFill>
              </a:rPr>
              <a:t>Did we surface the right records?</a:t>
            </a:r>
          </a:p>
        </p:txBody>
      </p:sp>
      <p:sp>
        <p:nvSpPr>
          <p:cNvPr id="16" name="s7-m-3">
            <a:extLst xmlns:a="http://schemas.openxmlformats.org/drawingml/2006/main">
              <a:ext uri="{FF2B5EF4-FFF2-40B4-BE49-F238E27FC236}">
                <a16:creationId xmlns:a16="http://schemas.microsoft.com/office/drawing/2014/main" id="{01E937E6-29F6-4756-835A-DEBE26D9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29100"/>
            <a:ext cx="3124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7" name="s7-m-title-3">
            <a:extLst xmlns:a="http://schemas.openxmlformats.org/drawingml/2006/main">
              <a:ext uri="{FF2B5EF4-FFF2-40B4-BE49-F238E27FC236}">
                <a16:creationId xmlns:a16="http://schemas.microsoft.com/office/drawing/2014/main" id="{A51A6EAE-E15D-4A8D-BBB7-4C81D7B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910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33E"/>
                </a:solidFill>
              </a:defRPr>
            </a:pPr>
            <a:r>
              <a:rPr sz="1500" b="1" i="0">
                <a:solidFill>
                  <a:srgbClr val="17633E"/>
                </a:solidFill>
              </a:rPr>
              <a:t>Time saved</a:t>
            </a:r>
          </a:p>
        </p:txBody>
      </p:sp>
      <p:sp>
        <p:nvSpPr>
          <p:cNvPr id="18" name="s7-m-body-3">
            <a:extLst xmlns:a="http://schemas.openxmlformats.org/drawingml/2006/main">
              <a:ext uri="{FF2B5EF4-FFF2-40B4-BE49-F238E27FC236}">
                <a16:creationId xmlns:a16="http://schemas.microsoft.com/office/drawing/2014/main" id="{0FF1CB1A-1FF7-4D4F-B969-E467B89C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244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6A"/>
                </a:solidFill>
              </a:defRPr>
            </a:pPr>
            <a:r>
              <a:rPr sz="1200" b="0" i="0">
                <a:solidFill>
                  <a:srgbClr val="65746A"/>
                </a:solidFill>
              </a:rPr>
              <a:t>How much faster is human review?</a:t>
            </a:r>
          </a:p>
        </p:txBody>
      </p:sp>
      <p:sp>
        <p:nvSpPr>
          <p:cNvPr id="19" name="s7-right-copy">
            <a:extLst xmlns:a="http://schemas.openxmlformats.org/drawingml/2006/main">
              <a:ext uri="{FF2B5EF4-FFF2-40B4-BE49-F238E27FC236}">
                <a16:creationId xmlns:a16="http://schemas.microsoft.com/office/drawing/2014/main" id="{A997C924-4321-42E9-8366-65C97AC9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7241D"/>
                </a:solidFill>
              </a:defRPr>
            </a:pPr>
            <a:r>
              <a:rPr sz="2175" b="1" i="0">
                <a:solidFill>
                  <a:srgbClr val="17241D"/>
                </a:solidFill>
              </a:rPr>
              <a:t>The goal is not to make uncertainty disappear.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 i="0">
                <a:solidFill>
                  <a:srgbClr val="17241D"/>
                </a:solidFill>
              </a:defRPr>
            </a:pPr>
            <a:r>
              <a:rPr sz="2175" b="1" i="0">
                <a:solidFill>
                  <a:srgbClr val="17241D"/>
                </a:solidFill>
              </a:rPr>
              <a:t>The goal is to make it reviewable.</a:t>
            </a:r>
          </a:p>
        </p:txBody>
      </p:sp>
      <p:sp>
        <p:nvSpPr>
          <p:cNvPr id="20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3EF0CDC0-394F-4F8F-8BCE-F0991ADD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8877D"/>
                </a:solidFill>
              </a:defRPr>
            </a:pPr>
            <a:r>
              <a:rPr sz="750" b="0" i="0">
                <a:solidFill>
                  <a:srgbClr val="78877D"/>
                </a:solidFill>
              </a:rPr>
              <a:t>Evaluation plan for intentionally seeded conflicts</a:t>
            </a:r>
          </a:p>
        </p:txBody>
      </p:sp>
      <p:sp>
        <p:nvSpPr>
          <p:cNvPr id="21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E78BA1E2-57C7-419E-9FA2-809CD877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8877D"/>
                </a:solidFill>
              </a:defRPr>
            </a:pPr>
            <a:r>
              <a:rPr sz="825" b="1" i="0">
                <a:solidFill>
                  <a:srgbClr val="78877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6187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3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af-a-52-56">
            <a:extLst xmlns:a="http://schemas.openxmlformats.org/drawingml/2006/main">
              <a:ext uri="{FF2B5EF4-FFF2-40B4-BE49-F238E27FC236}">
                <a16:creationId xmlns:a16="http://schemas.microsoft.com/office/drawing/2014/main" id="{1043D28D-5B74-40E1-AABF-6B475694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2095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5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af-b-52-56">
            <a:extLst xmlns:a="http://schemas.openxmlformats.org/drawingml/2006/main">
              <a:ext uri="{FF2B5EF4-FFF2-40B4-BE49-F238E27FC236}">
                <a16:creationId xmlns:a16="http://schemas.microsoft.com/office/drawing/2014/main" id="{2E2442BD-58D8-4C7A-867D-8CC19C86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61925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5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8-kicker">
            <a:extLst xmlns:a="http://schemas.openxmlformats.org/drawingml/2006/main">
              <a:ext uri="{FF2B5EF4-FFF2-40B4-BE49-F238E27FC236}">
                <a16:creationId xmlns:a16="http://schemas.microsoft.com/office/drawing/2014/main" id="{D4B05545-7B9A-4B02-8B8D-DEF1596D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FD5C8"/>
                </a:solidFill>
              </a:defRPr>
            </a:pPr>
            <a:r>
              <a:rPr sz="1050" b="1" i="0">
                <a:solidFill>
                  <a:srgbClr val="BFD5C8"/>
                </a:solidFill>
              </a:rPr>
              <a:t>SPECIMEN CASEBOOK</a:t>
            </a:r>
          </a:p>
        </p:txBody>
      </p:sp>
      <p:sp>
        <p:nvSpPr>
          <p:cNvPr id="4" name="s8-title">
            <a:extLst xmlns:a="http://schemas.openxmlformats.org/drawingml/2006/main">
              <a:ext uri="{FF2B5EF4-FFF2-40B4-BE49-F238E27FC236}">
                <a16:creationId xmlns:a16="http://schemas.microsoft.com/office/drawing/2014/main" id="{C4581F65-D878-4B88-95A4-41220308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667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7F3E8"/>
                </a:solidFill>
              </a:defRPr>
            </a:pPr>
            <a:r>
              <a:rPr sz="4125" b="1" i="0">
                <a:solidFill>
                  <a:srgbClr val="F7F3E8"/>
                </a:solidFill>
              </a:rPr>
              <a:t>Trustworthy biodiversity records,</a:t>
            </a:r>
          </a:p>
          <a:p xmlns:a="http://schemas.openxmlformats.org/drawingml/2006/main">
            <a:pPr algn="l">
              <a:defRPr sz="4125" b="1" i="0">
                <a:solidFill>
                  <a:srgbClr val="F7F3E8"/>
                </a:solidFill>
              </a:defRPr>
            </a:pPr>
            <a:r>
              <a:rPr sz="4125" b="1" i="0">
                <a:solidFill>
                  <a:srgbClr val="F7F3E8"/>
                </a:solidFill>
              </a:rPr>
              <a:t>without silent certainty.</a:t>
            </a:r>
          </a:p>
        </p:txBody>
      </p:sp>
      <p:sp>
        <p:nvSpPr>
          <p:cNvPr id="5" name="s8-body">
            <a:extLst xmlns:a="http://schemas.openxmlformats.org/drawingml/2006/main">
              <a:ext uri="{FF2B5EF4-FFF2-40B4-BE49-F238E27FC236}">
                <a16:creationId xmlns:a16="http://schemas.microsoft.com/office/drawing/2014/main" id="{0B79CC8D-2A3C-4EAA-8597-38A97C0E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D6E4DB"/>
                </a:solidFill>
              </a:defRPr>
            </a:pPr>
            <a:r>
              <a:rPr sz="2100" b="0" i="0">
                <a:solidFill>
                  <a:srgbClr val="D6E4DB"/>
                </a:solidFill>
              </a:rPr>
              <a:t>Auditable data reconciliation for the collections that science depends on.</a:t>
            </a:r>
          </a:p>
        </p:txBody>
      </p:sp>
      <p:sp>
        <p:nvSpPr>
          <p:cNvPr id="6" name="s8-link">
            <a:extLst xmlns:a="http://schemas.openxmlformats.org/drawingml/2006/main">
              <a:ext uri="{FF2B5EF4-FFF2-40B4-BE49-F238E27FC236}">
                <a16:creationId xmlns:a16="http://schemas.microsoft.com/office/drawing/2014/main" id="{2A3D811B-06D9-4F98-A205-4C0271BD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4485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4D36"/>
          </a:solidFill>
          <a:ln xmlns:a="http://schemas.openxmlformats.org/drawingml/2006/main" w="9525">
            <a:solidFill>
              <a:srgbClr val="3C7058"/>
            </a:solidFill>
            <a:prstDash val="solid"/>
          </a:ln>
        </p:spPr>
      </p:sp>
      <p:sp>
        <p:nvSpPr>
          <p:cNvPr id="7" name="s8-live-label">
            <a:extLst xmlns:a="http://schemas.openxmlformats.org/drawingml/2006/main">
              <a:ext uri="{FF2B5EF4-FFF2-40B4-BE49-F238E27FC236}">
                <a16:creationId xmlns:a16="http://schemas.microsoft.com/office/drawing/2014/main" id="{9FA36010-5048-48D5-9CB2-D37FE148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FD5C8"/>
                </a:solidFill>
              </a:defRPr>
            </a:pPr>
            <a:r>
              <a:rPr sz="900" b="1" i="0">
                <a:solidFill>
                  <a:srgbClr val="BFD5C8"/>
                </a:solidFill>
              </a:rPr>
              <a:t>RUN THE WORKING DEMO</a:t>
            </a:r>
          </a:p>
        </p:txBody>
      </p:sp>
      <p:sp>
        <p:nvSpPr>
          <p:cNvPr id="8" name="s8-live">
            <a:extLst xmlns:a="http://schemas.openxmlformats.org/drawingml/2006/main">
              <a:ext uri="{FF2B5EF4-FFF2-40B4-BE49-F238E27FC236}">
                <a16:creationId xmlns:a16="http://schemas.microsoft.com/office/drawing/2014/main" id="{E25882E9-F8CE-47AB-94DC-AC5E16CC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3E8"/>
                </a:solidFill>
              </a:defRPr>
            </a:pPr>
            <a:r>
              <a:rPr sz="1500" b="1" i="0">
                <a:solidFill>
                  <a:srgbClr val="F7F3E8"/>
                </a:solidFill>
              </a:rPr>
              <a:t>Clone the repository · npm install · npm run dev</a:t>
            </a:r>
          </a:p>
        </p:txBody>
      </p:sp>
      <p:sp>
        <p:nvSpPr>
          <p:cNvPr id="9" name="s8-github">
            <a:extLst xmlns:a="http://schemas.openxmlformats.org/drawingml/2006/main">
              <a:ext uri="{FF2B5EF4-FFF2-40B4-BE49-F238E27FC236}">
                <a16:creationId xmlns:a16="http://schemas.microsoft.com/office/drawing/2014/main" id="{FBA29797-2014-4EC2-9440-0EC76A40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62450"/>
            <a:ext cx="30289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gh-label">
            <a:extLst xmlns:a="http://schemas.openxmlformats.org/drawingml/2006/main">
              <a:ext uri="{FF2B5EF4-FFF2-40B4-BE49-F238E27FC236}">
                <a16:creationId xmlns:a16="http://schemas.microsoft.com/office/drawing/2014/main" id="{1A299736-A251-4184-9A1C-053EB03D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14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33E"/>
                </a:solidFill>
              </a:defRPr>
            </a:pPr>
            <a:r>
              <a:rPr sz="900" b="1" i="0">
                <a:solidFill>
                  <a:srgbClr val="17633E"/>
                </a:solidFill>
              </a:rPr>
              <a:t>SOURCE</a:t>
            </a:r>
          </a:p>
        </p:txBody>
      </p:sp>
      <p:sp>
        <p:nvSpPr>
          <p:cNvPr id="11" name="s8-gh">
            <a:extLst xmlns:a="http://schemas.openxmlformats.org/drawingml/2006/main">
              <a:ext uri="{FF2B5EF4-FFF2-40B4-BE49-F238E27FC236}">
                <a16:creationId xmlns:a16="http://schemas.microsoft.com/office/drawing/2014/main" id="{05373420-63D2-4145-8948-43D1E30D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52975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41D"/>
                </a:solidFill>
              </a:defRPr>
            </a:pPr>
            <a:r>
              <a:rPr sz="1275" b="1" i="0">
                <a:solidFill>
                  <a:srgbClr val="17241D"/>
                </a:solidFill>
              </a:rPr>
              <a:t>github.com/keigotak/</a:t>
            </a:r>
          </a:p>
          <a:p xmlns:a="http://schemas.openxmlformats.org/drawingml/2006/main">
            <a:pPr algn="l">
              <a:defRPr sz="1275" b="1" i="0">
                <a:solidFill>
                  <a:srgbClr val="17241D"/>
                </a:solidFill>
              </a:defRPr>
            </a:pPr>
            <a:r>
              <a:rPr sz="1275" b="1" i="0">
                <a:solidFill>
                  <a:srgbClr val="17241D"/>
                </a:solidFill>
              </a:rPr>
              <a:t>SpecimenCasebook</a:t>
            </a:r>
          </a:p>
        </p:txBody>
      </p:sp>
      <p:sp>
        <p:nvSpPr>
          <p:cNvPr id="12" name="s8-close">
            <a:extLst xmlns:a="http://schemas.openxmlformats.org/drawingml/2006/main">
              <a:ext uri="{FF2B5EF4-FFF2-40B4-BE49-F238E27FC236}">
                <a16:creationId xmlns:a16="http://schemas.microsoft.com/office/drawing/2014/main" id="{31226717-90B9-4D98-9B6B-149EB015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1">
                <a:solidFill>
                  <a:srgbClr val="FFD184"/>
                </a:solidFill>
              </a:defRPr>
            </a:pPr>
            <a:r>
              <a:rPr sz="2100" b="1" i="1">
                <a:solidFill>
                  <a:srgbClr val="FFD184"/>
                </a:solidFill>
              </a:rPr>
              <a:t>Conflict preserved. Science protected.</a:t>
            </a:r>
          </a:p>
        </p:txBody>
      </p:sp>
      <p:sp>
        <p:nvSpPr>
          <p:cNvPr id="13" name="footer-source-8">
            <a:extLst xmlns:a="http://schemas.openxmlformats.org/drawingml/2006/main">
              <a:ext uri="{FF2B5EF4-FFF2-40B4-BE49-F238E27FC236}">
                <a16:creationId xmlns:a16="http://schemas.microsoft.com/office/drawing/2014/main" id="{45EF8A58-D927-41FD-8734-F72F9F29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8877D"/>
                </a:solidFill>
              </a:defRPr>
            </a:pPr>
            <a:r>
              <a:rPr sz="750" b="0" i="0">
                <a:solidFill>
                  <a:srgbClr val="78877D"/>
                </a:solidFill>
              </a:rPr>
              <a:t>Built with Claude · Life Sciences · Build Track</a:t>
            </a:r>
          </a:p>
        </p:txBody>
      </p:sp>
      <p:sp>
        <p:nvSpPr>
          <p:cNvPr id="1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0E1E539A-FDB6-46A9-9BD0-D53B593B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8877D"/>
                </a:solidFill>
              </a:defRPr>
            </a:pPr>
            <a:r>
              <a:rPr sz="825" b="1" i="0">
                <a:solidFill>
                  <a:srgbClr val="78877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7792706"/>
      </p:ext>
    </p:extLst>
  </p:cSld>
</p:sld>
</file>

<file path=ppt/theme/theme1.xml><?xml version="1.0" encoding="utf-8"?>
<a:theme xmlns:a="http://schemas.openxmlformats.org/drawingml/2006/main" name="Specimen Casebook">
  <a:themeElements>
    <a:clrScheme name="Specimen Casebook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pecimen Caseboo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2026-07-12T02:39:41.6080000Z</dcterms:created>
  <dcterms:modified xsi:type="dcterms:W3CDTF">2026-07-12T02:39:41.6080000Z</dcterms:modified>
</coreProperties>
</file>